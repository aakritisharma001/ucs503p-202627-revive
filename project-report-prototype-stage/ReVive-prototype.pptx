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Open Sans Bold" charset="1" panose="00000000000000000000"/>
      <p:regular r:id="rId21"/>
    </p:embeddedFont>
    <p:embeddedFont>
      <p:font typeface="Montserrat Bold" charset="1" panose="00000800000000000000"/>
      <p:regular r:id="rId22"/>
    </p:embeddedFont>
    <p:embeddedFont>
      <p:font typeface="Open Sans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1906250" cy="10287000"/>
            <a:chOff x="0" y="0"/>
            <a:chExt cx="15875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75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5875000">
                  <a:moveTo>
                    <a:pt x="0" y="0"/>
                  </a:moveTo>
                  <a:lnTo>
                    <a:pt x="15875000" y="0"/>
                  </a:lnTo>
                  <a:lnTo>
                    <a:pt x="15875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B1324">
                    <a:alpha val="100000"/>
                  </a:srgbClr>
                </a:gs>
                <a:gs pos="62000">
                  <a:srgbClr val="0B1324">
                    <a:alpha val="92000"/>
                  </a:srgbClr>
                </a:gs>
                <a:gs pos="100000">
                  <a:srgbClr val="0B1324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875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7750" y="1009650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264" b="true">
                <a:solidFill>
                  <a:srgbClr val="19C7B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REVIVE  /  UCS503P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2324100"/>
            <a:ext cx="9525000" cy="181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8"/>
              </a:lnSpc>
            </a:pPr>
            <a:r>
              <a:rPr lang="en-US" sz="66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PROPOSAL</a:t>
            </a:r>
          </a:p>
          <a:p>
            <a:pPr algn="l">
              <a:lnSpc>
                <a:spcPts val="7008"/>
              </a:lnSpc>
            </a:pPr>
            <a:r>
              <a:rPr lang="en-US" sz="66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&amp; PROTOTYPE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4552950"/>
            <a:ext cx="5715000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19C7B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5600700"/>
            <a:ext cx="85725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Explainable Financial Anomaly Detection using a Corrupt-and-Repair Denoising Network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8820150"/>
            <a:ext cx="100012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A9B8CC"/>
                </a:solidFill>
                <a:latin typeface="Open Sans"/>
                <a:ea typeface="Open Sans"/>
                <a:cs typeface="Open Sans"/>
                <a:sym typeface="Open Sans"/>
              </a:rPr>
              <a:t>Software Engineering (UCS503P)  |  Project Proposal &amp; Prototype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190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247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620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322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Four forces compound the review problem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6300" y="1619250"/>
            <a:ext cx="16535400" cy="19050"/>
            <a:chOff x="0" y="0"/>
            <a:chExt cx="220472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2500" y="3095625"/>
            <a:ext cx="3333750" cy="2000250"/>
            <a:chOff x="0" y="0"/>
            <a:chExt cx="4445000" cy="266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445000">
                  <a:moveTo>
                    <a:pt x="50800" y="0"/>
                  </a:moveTo>
                  <a:lnTo>
                    <a:pt x="4394200" y="0"/>
                  </a:lnTo>
                  <a:cubicBezTo>
                    <a:pt x="4422256" y="0"/>
                    <a:pt x="4445000" y="22744"/>
                    <a:pt x="4445000" y="50800"/>
                  </a:cubicBezTo>
                  <a:lnTo>
                    <a:pt x="4445000" y="2616200"/>
                  </a:lnTo>
                  <a:cubicBezTo>
                    <a:pt x="4445000" y="2644256"/>
                    <a:pt x="4422256" y="2667000"/>
                    <a:pt x="4394200" y="2667000"/>
                  </a:cubicBezTo>
                  <a:lnTo>
                    <a:pt x="50800" y="2667000"/>
                  </a:lnTo>
                  <a:cubicBezTo>
                    <a:pt x="22744" y="2667000"/>
                    <a:pt x="0" y="2644256"/>
                    <a:pt x="0" y="2616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247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4445000" cy="264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SCALE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4381500" y="4095750"/>
            <a:ext cx="762000" cy="0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5238750" y="3095625"/>
            <a:ext cx="3333750" cy="2000250"/>
            <a:chOff x="0" y="0"/>
            <a:chExt cx="4445000" cy="266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445000">
                  <a:moveTo>
                    <a:pt x="50800" y="0"/>
                  </a:moveTo>
                  <a:lnTo>
                    <a:pt x="4394200" y="0"/>
                  </a:lnTo>
                  <a:cubicBezTo>
                    <a:pt x="4422256" y="0"/>
                    <a:pt x="4445000" y="22744"/>
                    <a:pt x="4445000" y="50800"/>
                  </a:cubicBezTo>
                  <a:lnTo>
                    <a:pt x="4445000" y="2616200"/>
                  </a:lnTo>
                  <a:cubicBezTo>
                    <a:pt x="4445000" y="2644256"/>
                    <a:pt x="4422256" y="2667000"/>
                    <a:pt x="4394200" y="2667000"/>
                  </a:cubicBezTo>
                  <a:lnTo>
                    <a:pt x="50800" y="2667000"/>
                  </a:lnTo>
                  <a:cubicBezTo>
                    <a:pt x="22744" y="2667000"/>
                    <a:pt x="0" y="2644256"/>
                    <a:pt x="0" y="2616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B1324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4445000" cy="264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NO EXPLANATION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8667750" y="4095750"/>
            <a:ext cx="762000" cy="0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9525000" y="3095625"/>
            <a:ext cx="3333750" cy="2000250"/>
            <a:chOff x="0" y="0"/>
            <a:chExt cx="4445000" cy="2667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45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445000">
                  <a:moveTo>
                    <a:pt x="50800" y="0"/>
                  </a:moveTo>
                  <a:lnTo>
                    <a:pt x="4394200" y="0"/>
                  </a:lnTo>
                  <a:cubicBezTo>
                    <a:pt x="4422256" y="0"/>
                    <a:pt x="4445000" y="22744"/>
                    <a:pt x="4445000" y="50800"/>
                  </a:cubicBezTo>
                  <a:lnTo>
                    <a:pt x="4445000" y="2616200"/>
                  </a:lnTo>
                  <a:cubicBezTo>
                    <a:pt x="4445000" y="2644256"/>
                    <a:pt x="4422256" y="2667000"/>
                    <a:pt x="4394200" y="2667000"/>
                  </a:cubicBezTo>
                  <a:lnTo>
                    <a:pt x="50800" y="2667000"/>
                  </a:lnTo>
                  <a:cubicBezTo>
                    <a:pt x="22744" y="2667000"/>
                    <a:pt x="0" y="2644256"/>
                    <a:pt x="0" y="2616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247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4445000" cy="264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CLASS IMBALANCE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2954000" y="4095750"/>
            <a:ext cx="762000" cy="0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13811250" y="3095625"/>
            <a:ext cx="3333750" cy="2000250"/>
            <a:chOff x="0" y="0"/>
            <a:chExt cx="4445000" cy="2667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445000">
                  <a:moveTo>
                    <a:pt x="50800" y="0"/>
                  </a:moveTo>
                  <a:lnTo>
                    <a:pt x="4394200" y="0"/>
                  </a:lnTo>
                  <a:cubicBezTo>
                    <a:pt x="4422256" y="0"/>
                    <a:pt x="4445000" y="22744"/>
                    <a:pt x="4445000" y="50800"/>
                  </a:cubicBezTo>
                  <a:lnTo>
                    <a:pt x="4445000" y="2616200"/>
                  </a:lnTo>
                  <a:cubicBezTo>
                    <a:pt x="4445000" y="2644256"/>
                    <a:pt x="4422256" y="2667000"/>
                    <a:pt x="4394200" y="2667000"/>
                  </a:cubicBezTo>
                  <a:lnTo>
                    <a:pt x="50800" y="2667000"/>
                  </a:lnTo>
                  <a:cubicBezTo>
                    <a:pt x="22744" y="2667000"/>
                    <a:pt x="0" y="2644256"/>
                    <a:pt x="0" y="2616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B1324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4445000" cy="264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DETECTION LAG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52500" y="5410200"/>
            <a:ext cx="3333750" cy="60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875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Manual review breaks; thresholds miss subtle signals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38750" y="5410200"/>
            <a:ext cx="3333750" cy="60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875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A score alone cannot support a decision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25000" y="5410200"/>
            <a:ext cx="3333750" cy="60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875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Fraud is tiny; naive accuracy misleads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11250" y="5410200"/>
            <a:ext cx="3333750" cy="60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875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Batch review delays intervention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57500" y="8143875"/>
            <a:ext cx="12573000" cy="37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2"/>
              </a:lnSpc>
            </a:pPr>
            <a:r>
              <a:rPr lang="en-US" sz="2850" b="true">
                <a:solidFill>
                  <a:srgbClr val="247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More volume → less context → weaker signals → slower action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190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247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42975"/>
            <a:ext cx="14287500" cy="475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450" b="true">
                <a:solidFill>
                  <a:srgbClr val="1322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Anomaly detection: from classical rules to structured learning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6300" y="1619250"/>
            <a:ext cx="16535400" cy="19050"/>
            <a:chOff x="0" y="0"/>
            <a:chExt cx="220472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4875" y="2714625"/>
            <a:ext cx="3714750" cy="3714750"/>
            <a:chOff x="0" y="0"/>
            <a:chExt cx="4953000" cy="4953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953000" cy="4953000"/>
              <a:chOff x="0" y="0"/>
              <a:chExt cx="4953000" cy="4953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953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DBE7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953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30200" y="663575"/>
              <a:ext cx="42926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0B132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CLASSICAL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30200" y="1949450"/>
              <a:ext cx="4292600" cy="1057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LOF · Isolation Forest · COPOD · MatrixProfile</a:t>
              </a:r>
            </a:p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No training; ReVive baselines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857750" y="2714625"/>
            <a:ext cx="3810000" cy="3714750"/>
            <a:chOff x="0" y="0"/>
            <a:chExt cx="5080000" cy="4953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080000" cy="4953000"/>
              <a:chOff x="0" y="0"/>
              <a:chExt cx="5080000" cy="4953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080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CCEFE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5080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30200" y="654050"/>
              <a:ext cx="4419600" cy="329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1"/>
                </a:lnSpc>
              </a:pPr>
              <a:r>
                <a:rPr lang="en-US" sz="1725" b="true">
                  <a:solidFill>
                    <a:srgbClr val="0B132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RECONSTRUCT &amp; FORECAST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30200" y="1949450"/>
              <a:ext cx="4419600" cy="1057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LSTM-AD · Donut · OmniAnomaly · SISVAE · USAD · STREAM-VAE</a:t>
              </a:r>
            </a:p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Error flags deviation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810625" y="2714625"/>
            <a:ext cx="3810000" cy="3714750"/>
            <a:chOff x="0" y="0"/>
            <a:chExt cx="5080000" cy="4953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5080000" cy="4953000"/>
              <a:chOff x="0" y="0"/>
              <a:chExt cx="5080000" cy="4953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080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A9DF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5080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30200" y="663575"/>
              <a:ext cx="44196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0B132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CORRUPT → CLEAN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30200" y="1949450"/>
              <a:ext cx="4419600" cy="1057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Denoising autoencoders · score matching · CSDI</a:t>
              </a:r>
            </a:p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ReVive’s lineage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763500" y="2714625"/>
            <a:ext cx="4572000" cy="3714750"/>
            <a:chOff x="0" y="0"/>
            <a:chExt cx="6096000" cy="4953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096000" cy="4953000"/>
              <a:chOff x="0" y="0"/>
              <a:chExt cx="6096000" cy="4953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096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B8C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6096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30200" y="663575"/>
              <a:ext cx="54356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0B132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STRUCTURE-AWARE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30200" y="1949450"/>
              <a:ext cx="5435600" cy="702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Anomaly Transformer · GDN · TranAD</a:t>
              </a:r>
            </a:p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Powerful, computationally expensive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143000" y="7239000"/>
            <a:ext cx="15811500" cy="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2" id="32"/>
          <p:cNvSpPr txBox="true"/>
          <p:nvPr/>
        </p:nvSpPr>
        <p:spPr>
          <a:xfrm rot="0">
            <a:off x="904875" y="7477125"/>
            <a:ext cx="28575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00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LOW SETUP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811250" y="7477125"/>
            <a:ext cx="35242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5"/>
              </a:lnSpc>
            </a:pPr>
            <a:r>
              <a:rPr lang="en-US" sz="1500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NEURAL COMPLEXITY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857500" y="8553450"/>
            <a:ext cx="125730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875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ReVive occupies the denoising lineage—minimal architecture, adapted here for explainable financial detection.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190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19C7B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620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minimal detector, extended into a usable system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6300" y="1619250"/>
            <a:ext cx="16535400" cy="19050"/>
            <a:chOff x="0" y="0"/>
            <a:chExt cx="220472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9405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91250" y="3571875"/>
            <a:ext cx="5905500" cy="2333625"/>
            <a:chOff x="0" y="0"/>
            <a:chExt cx="7874000" cy="3111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74000" cy="3111500"/>
            </a:xfrm>
            <a:custGeom>
              <a:avLst/>
              <a:gdLst/>
              <a:ahLst/>
              <a:cxnLst/>
              <a:rect r="r" b="b" t="t" l="l"/>
              <a:pathLst>
                <a:path h="3111500" w="7874000">
                  <a:moveTo>
                    <a:pt x="28677" y="0"/>
                  </a:moveTo>
                  <a:lnTo>
                    <a:pt x="7845323" y="0"/>
                  </a:lnTo>
                  <a:cubicBezTo>
                    <a:pt x="7861160" y="0"/>
                    <a:pt x="7874000" y="12839"/>
                    <a:pt x="7874000" y="28677"/>
                  </a:cubicBezTo>
                  <a:lnTo>
                    <a:pt x="7874000" y="3082823"/>
                  </a:lnTo>
                  <a:cubicBezTo>
                    <a:pt x="7874000" y="3098661"/>
                    <a:pt x="7861160" y="3111500"/>
                    <a:pt x="7845323" y="3111500"/>
                  </a:cubicBezTo>
                  <a:lnTo>
                    <a:pt x="28677" y="3111500"/>
                  </a:lnTo>
                  <a:cubicBezTo>
                    <a:pt x="12839" y="3111500"/>
                    <a:pt x="0" y="3098661"/>
                    <a:pt x="0" y="3082823"/>
                  </a:cubicBezTo>
                  <a:lnTo>
                    <a:pt x="0" y="28677"/>
                  </a:lnTo>
                  <a:cubicBezTo>
                    <a:pt x="0" y="12839"/>
                    <a:pt x="12839" y="0"/>
                    <a:pt x="28677" y="0"/>
                  </a:cubicBezTo>
                  <a:close/>
                </a:path>
              </a:pathLst>
            </a:custGeom>
            <a:solidFill>
              <a:srgbClr val="247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7874000" cy="309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NEWLY PUBLISHED (2026)</a:t>
              </a:r>
            </a:p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MINIMAL DENOISING DETECTOR</a:t>
              </a:r>
            </a:p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Independent reimplementation · no official code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3000" y="2476500"/>
            <a:ext cx="4000500" cy="1714500"/>
            <a:chOff x="0" y="0"/>
            <a:chExt cx="5334000" cy="228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334000">
                  <a:moveTo>
                    <a:pt x="42333" y="0"/>
                  </a:moveTo>
                  <a:lnTo>
                    <a:pt x="5291667" y="0"/>
                  </a:lnTo>
                  <a:cubicBezTo>
                    <a:pt x="5302894" y="0"/>
                    <a:pt x="5313662" y="4460"/>
                    <a:pt x="5321601" y="12399"/>
                  </a:cubicBezTo>
                  <a:cubicBezTo>
                    <a:pt x="5329540" y="20338"/>
                    <a:pt x="5334000" y="31106"/>
                    <a:pt x="5334000" y="42333"/>
                  </a:cubicBezTo>
                  <a:lnTo>
                    <a:pt x="5334000" y="2243667"/>
                  </a:lnTo>
                  <a:cubicBezTo>
                    <a:pt x="5334000" y="2254894"/>
                    <a:pt x="5329540" y="2265662"/>
                    <a:pt x="5321601" y="2273601"/>
                  </a:cubicBezTo>
                  <a:cubicBezTo>
                    <a:pt x="5313662" y="2281540"/>
                    <a:pt x="5302894" y="2286000"/>
                    <a:pt x="5291667" y="2286000"/>
                  </a:cubicBezTo>
                  <a:lnTo>
                    <a:pt x="42333" y="2286000"/>
                  </a:lnTo>
                  <a:cubicBezTo>
                    <a:pt x="31106" y="2286000"/>
                    <a:pt x="20338" y="2281540"/>
                    <a:pt x="12399" y="2273601"/>
                  </a:cubicBezTo>
                  <a:cubicBezTo>
                    <a:pt x="4460" y="2265662"/>
                    <a:pt x="0" y="2254894"/>
                    <a:pt x="0" y="2243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142641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53340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NEW DOMAIN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Financial transactions beyond sensor benchmarks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5143500" y="3333750"/>
            <a:ext cx="1047750" cy="1400175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13144500" y="2476500"/>
            <a:ext cx="4000500" cy="1714500"/>
            <a:chOff x="0" y="0"/>
            <a:chExt cx="5334000" cy="228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3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334000">
                  <a:moveTo>
                    <a:pt x="42333" y="0"/>
                  </a:moveTo>
                  <a:lnTo>
                    <a:pt x="5291667" y="0"/>
                  </a:lnTo>
                  <a:cubicBezTo>
                    <a:pt x="5302894" y="0"/>
                    <a:pt x="5313662" y="4460"/>
                    <a:pt x="5321601" y="12399"/>
                  </a:cubicBezTo>
                  <a:cubicBezTo>
                    <a:pt x="5329540" y="20338"/>
                    <a:pt x="5334000" y="31106"/>
                    <a:pt x="5334000" y="42333"/>
                  </a:cubicBezTo>
                  <a:lnTo>
                    <a:pt x="5334000" y="2243667"/>
                  </a:lnTo>
                  <a:cubicBezTo>
                    <a:pt x="5334000" y="2254894"/>
                    <a:pt x="5329540" y="2265662"/>
                    <a:pt x="5321601" y="2273601"/>
                  </a:cubicBezTo>
                  <a:cubicBezTo>
                    <a:pt x="5313662" y="2281540"/>
                    <a:pt x="5302894" y="2286000"/>
                    <a:pt x="5291667" y="2286000"/>
                  </a:cubicBezTo>
                  <a:lnTo>
                    <a:pt x="42333" y="2286000"/>
                  </a:lnTo>
                  <a:cubicBezTo>
                    <a:pt x="31106" y="2286000"/>
                    <a:pt x="20338" y="2281540"/>
                    <a:pt x="12399" y="2273601"/>
                  </a:cubicBezTo>
                  <a:cubicBezTo>
                    <a:pt x="4460" y="2265662"/>
                    <a:pt x="0" y="2254894"/>
                    <a:pt x="0" y="2243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142641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53340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EXPLAINABILITY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Feature + timestep attribution per flag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flipH="true">
            <a:off x="12096750" y="3333750"/>
            <a:ext cx="1047750" cy="1400175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1143000" y="6953250"/>
            <a:ext cx="4000500" cy="1714500"/>
            <a:chOff x="0" y="0"/>
            <a:chExt cx="5334000" cy="228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3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334000">
                  <a:moveTo>
                    <a:pt x="42333" y="0"/>
                  </a:moveTo>
                  <a:lnTo>
                    <a:pt x="5291667" y="0"/>
                  </a:lnTo>
                  <a:cubicBezTo>
                    <a:pt x="5302894" y="0"/>
                    <a:pt x="5313662" y="4460"/>
                    <a:pt x="5321601" y="12399"/>
                  </a:cubicBezTo>
                  <a:cubicBezTo>
                    <a:pt x="5329540" y="20338"/>
                    <a:pt x="5334000" y="31106"/>
                    <a:pt x="5334000" y="42333"/>
                  </a:cubicBezTo>
                  <a:lnTo>
                    <a:pt x="5334000" y="2243667"/>
                  </a:lnTo>
                  <a:cubicBezTo>
                    <a:pt x="5334000" y="2254894"/>
                    <a:pt x="5329540" y="2265662"/>
                    <a:pt x="5321601" y="2273601"/>
                  </a:cubicBezTo>
                  <a:cubicBezTo>
                    <a:pt x="5313662" y="2281540"/>
                    <a:pt x="5302894" y="2286000"/>
                    <a:pt x="5291667" y="2286000"/>
                  </a:cubicBezTo>
                  <a:lnTo>
                    <a:pt x="42333" y="2286000"/>
                  </a:lnTo>
                  <a:cubicBezTo>
                    <a:pt x="31106" y="2286000"/>
                    <a:pt x="20338" y="2281540"/>
                    <a:pt x="12399" y="2273601"/>
                  </a:cubicBezTo>
                  <a:cubicBezTo>
                    <a:pt x="4460" y="2265662"/>
                    <a:pt x="0" y="2254894"/>
                    <a:pt x="0" y="2243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142641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53340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DEPLOYED SYSTEM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Ingest · detect · explain · triage · store · review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5143500" y="4733925"/>
            <a:ext cx="1047750" cy="3076575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2" id="22"/>
          <p:cNvGrpSpPr/>
          <p:nvPr/>
        </p:nvGrpSpPr>
        <p:grpSpPr>
          <a:xfrm rot="0">
            <a:off x="13144500" y="6953250"/>
            <a:ext cx="4000500" cy="1714500"/>
            <a:chOff x="0" y="0"/>
            <a:chExt cx="5334000" cy="2286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3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334000">
                  <a:moveTo>
                    <a:pt x="42333" y="0"/>
                  </a:moveTo>
                  <a:lnTo>
                    <a:pt x="5291667" y="0"/>
                  </a:lnTo>
                  <a:cubicBezTo>
                    <a:pt x="5302894" y="0"/>
                    <a:pt x="5313662" y="4460"/>
                    <a:pt x="5321601" y="12399"/>
                  </a:cubicBezTo>
                  <a:cubicBezTo>
                    <a:pt x="5329540" y="20338"/>
                    <a:pt x="5334000" y="31106"/>
                    <a:pt x="5334000" y="42333"/>
                  </a:cubicBezTo>
                  <a:lnTo>
                    <a:pt x="5334000" y="2243667"/>
                  </a:lnTo>
                  <a:cubicBezTo>
                    <a:pt x="5334000" y="2254894"/>
                    <a:pt x="5329540" y="2265662"/>
                    <a:pt x="5321601" y="2273601"/>
                  </a:cubicBezTo>
                  <a:cubicBezTo>
                    <a:pt x="5313662" y="2281540"/>
                    <a:pt x="5302894" y="2286000"/>
                    <a:pt x="5291667" y="2286000"/>
                  </a:cubicBezTo>
                  <a:lnTo>
                    <a:pt x="42333" y="2286000"/>
                  </a:lnTo>
                  <a:cubicBezTo>
                    <a:pt x="31106" y="2286000"/>
                    <a:pt x="20338" y="2281540"/>
                    <a:pt x="12399" y="2273601"/>
                  </a:cubicBezTo>
                  <a:cubicBezTo>
                    <a:pt x="4460" y="2265662"/>
                    <a:pt x="0" y="2254894"/>
                    <a:pt x="0" y="2243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142641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53340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EXACT REBUILD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Verified 17,665-parameter configuration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H="true" flipV="true">
            <a:off x="12096750" y="4733925"/>
            <a:ext cx="1047750" cy="3076575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190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247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52500"/>
            <a:ext cx="14287500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750" b="true">
                <a:solidFill>
                  <a:srgbClr val="1322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continuous path from raw file to reviewer action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6300" y="1619250"/>
            <a:ext cx="16535400" cy="19050"/>
            <a:chOff x="0" y="0"/>
            <a:chExt cx="220472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42950" y="3333750"/>
            <a:ext cx="2047875" cy="1714500"/>
            <a:chOff x="0" y="0"/>
            <a:chExt cx="2730500" cy="228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30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730500">
                  <a:moveTo>
                    <a:pt x="82698" y="0"/>
                  </a:moveTo>
                  <a:lnTo>
                    <a:pt x="2647802" y="0"/>
                  </a:lnTo>
                  <a:cubicBezTo>
                    <a:pt x="2693475" y="0"/>
                    <a:pt x="2730500" y="37025"/>
                    <a:pt x="2730500" y="82698"/>
                  </a:cubicBezTo>
                  <a:lnTo>
                    <a:pt x="2730500" y="2203302"/>
                  </a:lnTo>
                  <a:cubicBezTo>
                    <a:pt x="2730500" y="2248975"/>
                    <a:pt x="2693475" y="2286000"/>
                    <a:pt x="2647802" y="2286000"/>
                  </a:cubicBezTo>
                  <a:lnTo>
                    <a:pt x="82698" y="2286000"/>
                  </a:lnTo>
                  <a:cubicBezTo>
                    <a:pt x="37025" y="2286000"/>
                    <a:pt x="0" y="2248975"/>
                    <a:pt x="0" y="2203302"/>
                  </a:cubicBezTo>
                  <a:lnTo>
                    <a:pt x="0" y="82698"/>
                  </a:lnTo>
                  <a:cubicBezTo>
                    <a:pt x="0" y="37025"/>
                    <a:pt x="37025" y="0"/>
                    <a:pt x="8269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27305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DATA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INGESTION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2838450" y="4191000"/>
            <a:ext cx="333375" cy="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3248025" y="3333750"/>
            <a:ext cx="2047875" cy="1714500"/>
            <a:chOff x="0" y="0"/>
            <a:chExt cx="2730500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30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730500">
                  <a:moveTo>
                    <a:pt x="82698" y="0"/>
                  </a:moveTo>
                  <a:lnTo>
                    <a:pt x="2647802" y="0"/>
                  </a:lnTo>
                  <a:cubicBezTo>
                    <a:pt x="2693475" y="0"/>
                    <a:pt x="2730500" y="37025"/>
                    <a:pt x="2730500" y="82698"/>
                  </a:cubicBezTo>
                  <a:lnTo>
                    <a:pt x="2730500" y="2203302"/>
                  </a:lnTo>
                  <a:cubicBezTo>
                    <a:pt x="2730500" y="2248975"/>
                    <a:pt x="2693475" y="2286000"/>
                    <a:pt x="2647802" y="2286000"/>
                  </a:cubicBezTo>
                  <a:lnTo>
                    <a:pt x="82698" y="2286000"/>
                  </a:lnTo>
                  <a:cubicBezTo>
                    <a:pt x="37025" y="2286000"/>
                    <a:pt x="0" y="2248975"/>
                    <a:pt x="0" y="2203302"/>
                  </a:cubicBezTo>
                  <a:lnTo>
                    <a:pt x="0" y="82698"/>
                  </a:lnTo>
                  <a:cubicBezTo>
                    <a:pt x="0" y="37025"/>
                    <a:pt x="37025" y="0"/>
                    <a:pt x="8269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27305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PREPROCESS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&amp; WINDOW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5343525" y="4191000"/>
            <a:ext cx="333375" cy="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5753100" y="3333750"/>
            <a:ext cx="2047875" cy="1714500"/>
            <a:chOff x="0" y="0"/>
            <a:chExt cx="2730500" cy="228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30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730500">
                  <a:moveTo>
                    <a:pt x="82698" y="0"/>
                  </a:moveTo>
                  <a:lnTo>
                    <a:pt x="2647802" y="0"/>
                  </a:lnTo>
                  <a:cubicBezTo>
                    <a:pt x="2693475" y="0"/>
                    <a:pt x="2730500" y="37025"/>
                    <a:pt x="2730500" y="82698"/>
                  </a:cubicBezTo>
                  <a:lnTo>
                    <a:pt x="2730500" y="2203302"/>
                  </a:lnTo>
                  <a:cubicBezTo>
                    <a:pt x="2730500" y="2248975"/>
                    <a:pt x="2693475" y="2286000"/>
                    <a:pt x="2647802" y="2286000"/>
                  </a:cubicBezTo>
                  <a:lnTo>
                    <a:pt x="82698" y="2286000"/>
                  </a:lnTo>
                  <a:cubicBezTo>
                    <a:pt x="37025" y="2286000"/>
                    <a:pt x="0" y="2248975"/>
                    <a:pt x="0" y="2203302"/>
                  </a:cubicBezTo>
                  <a:lnTo>
                    <a:pt x="0" y="82698"/>
                  </a:lnTo>
                  <a:cubicBezTo>
                    <a:pt x="0" y="37025"/>
                    <a:pt x="37025" y="0"/>
                    <a:pt x="82698" y="0"/>
                  </a:cubicBezTo>
                  <a:close/>
                </a:path>
              </a:pathLst>
            </a:custGeom>
            <a:solidFill>
              <a:srgbClr val="247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27305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REVIVE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DETECTION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7848600" y="4191000"/>
            <a:ext cx="333375" cy="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8258175" y="3333750"/>
            <a:ext cx="2047875" cy="1714500"/>
            <a:chOff x="0" y="0"/>
            <a:chExt cx="2730500" cy="2286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30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730500">
                  <a:moveTo>
                    <a:pt x="82698" y="0"/>
                  </a:moveTo>
                  <a:lnTo>
                    <a:pt x="2647802" y="0"/>
                  </a:lnTo>
                  <a:cubicBezTo>
                    <a:pt x="2693475" y="0"/>
                    <a:pt x="2730500" y="37025"/>
                    <a:pt x="2730500" y="82698"/>
                  </a:cubicBezTo>
                  <a:lnTo>
                    <a:pt x="2730500" y="2203302"/>
                  </a:lnTo>
                  <a:cubicBezTo>
                    <a:pt x="2730500" y="2248975"/>
                    <a:pt x="2693475" y="2286000"/>
                    <a:pt x="2647802" y="2286000"/>
                  </a:cubicBezTo>
                  <a:lnTo>
                    <a:pt x="82698" y="2286000"/>
                  </a:lnTo>
                  <a:cubicBezTo>
                    <a:pt x="37025" y="2286000"/>
                    <a:pt x="0" y="2248975"/>
                    <a:pt x="0" y="2203302"/>
                  </a:cubicBezTo>
                  <a:lnTo>
                    <a:pt x="0" y="82698"/>
                  </a:lnTo>
                  <a:cubicBezTo>
                    <a:pt x="0" y="37025"/>
                    <a:pt x="37025" y="0"/>
                    <a:pt x="82698" y="0"/>
                  </a:cubicBezTo>
                  <a:close/>
                </a:path>
              </a:pathLst>
            </a:custGeom>
            <a:solidFill>
              <a:srgbClr val="19C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27305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EXPLAINABILITY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MODULE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10353675" y="4191000"/>
            <a:ext cx="333375" cy="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3" id="23"/>
          <p:cNvGrpSpPr/>
          <p:nvPr/>
        </p:nvGrpSpPr>
        <p:grpSpPr>
          <a:xfrm rot="0">
            <a:off x="10763250" y="3333750"/>
            <a:ext cx="2047875" cy="1714500"/>
            <a:chOff x="0" y="0"/>
            <a:chExt cx="2730500" cy="2286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30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730500">
                  <a:moveTo>
                    <a:pt x="82698" y="0"/>
                  </a:moveTo>
                  <a:lnTo>
                    <a:pt x="2647802" y="0"/>
                  </a:lnTo>
                  <a:cubicBezTo>
                    <a:pt x="2693475" y="0"/>
                    <a:pt x="2730500" y="37025"/>
                    <a:pt x="2730500" y="82698"/>
                  </a:cubicBezTo>
                  <a:lnTo>
                    <a:pt x="2730500" y="2203302"/>
                  </a:lnTo>
                  <a:cubicBezTo>
                    <a:pt x="2730500" y="2248975"/>
                    <a:pt x="2693475" y="2286000"/>
                    <a:pt x="2647802" y="2286000"/>
                  </a:cubicBezTo>
                  <a:lnTo>
                    <a:pt x="82698" y="2286000"/>
                  </a:lnTo>
                  <a:cubicBezTo>
                    <a:pt x="37025" y="2286000"/>
                    <a:pt x="0" y="2248975"/>
                    <a:pt x="0" y="2203302"/>
                  </a:cubicBezTo>
                  <a:lnTo>
                    <a:pt x="0" y="82698"/>
                  </a:lnTo>
                  <a:cubicBezTo>
                    <a:pt x="0" y="37025"/>
                    <a:pt x="37025" y="0"/>
                    <a:pt x="8269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27305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TRIAGE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LOGIC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2858750" y="4191000"/>
            <a:ext cx="333375" cy="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7" id="27"/>
          <p:cNvGrpSpPr/>
          <p:nvPr/>
        </p:nvGrpSpPr>
        <p:grpSpPr>
          <a:xfrm rot="0">
            <a:off x="13268325" y="3333750"/>
            <a:ext cx="2047875" cy="1714500"/>
            <a:chOff x="0" y="0"/>
            <a:chExt cx="2730500" cy="2286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30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730500">
                  <a:moveTo>
                    <a:pt x="82698" y="0"/>
                  </a:moveTo>
                  <a:lnTo>
                    <a:pt x="2647802" y="0"/>
                  </a:lnTo>
                  <a:cubicBezTo>
                    <a:pt x="2693475" y="0"/>
                    <a:pt x="2730500" y="37025"/>
                    <a:pt x="2730500" y="82698"/>
                  </a:cubicBezTo>
                  <a:lnTo>
                    <a:pt x="2730500" y="2203302"/>
                  </a:lnTo>
                  <a:cubicBezTo>
                    <a:pt x="2730500" y="2248975"/>
                    <a:pt x="2693475" y="2286000"/>
                    <a:pt x="2647802" y="2286000"/>
                  </a:cubicBezTo>
                  <a:lnTo>
                    <a:pt x="82698" y="2286000"/>
                  </a:lnTo>
                  <a:cubicBezTo>
                    <a:pt x="37025" y="2286000"/>
                    <a:pt x="0" y="2248975"/>
                    <a:pt x="0" y="2203302"/>
                  </a:cubicBezTo>
                  <a:lnTo>
                    <a:pt x="0" y="82698"/>
                  </a:lnTo>
                  <a:cubicBezTo>
                    <a:pt x="0" y="37025"/>
                    <a:pt x="37025" y="0"/>
                    <a:pt x="8269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19050"/>
              <a:ext cx="27305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STORAGE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(DB)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5363825" y="4191000"/>
            <a:ext cx="333375" cy="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1" id="31"/>
          <p:cNvGrpSpPr/>
          <p:nvPr/>
        </p:nvGrpSpPr>
        <p:grpSpPr>
          <a:xfrm rot="0">
            <a:off x="15773400" y="3333750"/>
            <a:ext cx="2047875" cy="1714500"/>
            <a:chOff x="0" y="0"/>
            <a:chExt cx="2730500" cy="2286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30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730500">
                  <a:moveTo>
                    <a:pt x="82698" y="0"/>
                  </a:moveTo>
                  <a:lnTo>
                    <a:pt x="2647802" y="0"/>
                  </a:lnTo>
                  <a:cubicBezTo>
                    <a:pt x="2693475" y="0"/>
                    <a:pt x="2730500" y="37025"/>
                    <a:pt x="2730500" y="82698"/>
                  </a:cubicBezTo>
                  <a:lnTo>
                    <a:pt x="2730500" y="2203302"/>
                  </a:lnTo>
                  <a:cubicBezTo>
                    <a:pt x="2730500" y="2248975"/>
                    <a:pt x="2693475" y="2286000"/>
                    <a:pt x="2647802" y="2286000"/>
                  </a:cubicBezTo>
                  <a:lnTo>
                    <a:pt x="82698" y="2286000"/>
                  </a:lnTo>
                  <a:cubicBezTo>
                    <a:pt x="37025" y="2286000"/>
                    <a:pt x="0" y="2248975"/>
                    <a:pt x="0" y="2203302"/>
                  </a:cubicBezTo>
                  <a:lnTo>
                    <a:pt x="0" y="82698"/>
                  </a:lnTo>
                  <a:cubicBezTo>
                    <a:pt x="0" y="37025"/>
                    <a:pt x="37025" y="0"/>
                    <a:pt x="8269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19050"/>
              <a:ext cx="27305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DASHBOARD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(UI)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742950" y="5419725"/>
            <a:ext cx="2047875" cy="24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575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Raw transactions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248025" y="5419725"/>
            <a:ext cx="2047875" cy="24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575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Clean windows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753100" y="5419725"/>
            <a:ext cx="2047875" cy="24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575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Repair score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258175" y="5419725"/>
            <a:ext cx="2047875" cy="24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575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Per-feature why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763250" y="5419725"/>
            <a:ext cx="2047875" cy="24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575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Severity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268325" y="5419725"/>
            <a:ext cx="2047875" cy="24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575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Alert record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773400" y="5419725"/>
            <a:ext cx="2047875" cy="24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575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Review &amp; act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476500" y="7991475"/>
            <a:ext cx="13335000" cy="35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6"/>
              </a:lnSpc>
            </a:pPr>
            <a:r>
              <a:rPr lang="en-US" sz="2625" b="true">
                <a:solidFill>
                  <a:srgbClr val="247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INGEST  →  REPAIR  →  EXPLAIN  →  TRIAGE  →  SURFACE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190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247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620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322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 case diagram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6300" y="1619250"/>
            <a:ext cx="16535400" cy="19050"/>
            <a:chOff x="0" y="0"/>
            <a:chExt cx="220472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143250" y="2095500"/>
            <a:ext cx="12001500" cy="6572250"/>
            <a:chOff x="0" y="0"/>
            <a:chExt cx="16002000" cy="876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002000" cy="8763000"/>
            </a:xfrm>
            <a:custGeom>
              <a:avLst/>
              <a:gdLst/>
              <a:ahLst/>
              <a:cxnLst/>
              <a:rect r="r" b="b" t="t" l="l"/>
              <a:pathLst>
                <a:path h="8763000" w="16002000">
                  <a:moveTo>
                    <a:pt x="0" y="0"/>
                  </a:moveTo>
                  <a:lnTo>
                    <a:pt x="16002000" y="0"/>
                  </a:lnTo>
                  <a:lnTo>
                    <a:pt x="16002000" y="8763000"/>
                  </a:lnTo>
                  <a:lnTo>
                    <a:pt x="0" y="8763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478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002000" cy="880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762500" y="2333625"/>
            <a:ext cx="8763000" cy="25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875" b="true">
                <a:solidFill>
                  <a:srgbClr val="1322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ReVive: Financial Anomaly Detection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6750" y="4314825"/>
            <a:ext cx="2000250" cy="502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875" b="true">
                <a:solidFill>
                  <a:srgbClr val="1322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/</a:t>
            </a:r>
          </a:p>
          <a:p>
            <a:pPr algn="ctr">
              <a:lnSpc>
                <a:spcPts val="1968"/>
              </a:lnSpc>
            </a:pPr>
            <a:r>
              <a:rPr lang="en-US" sz="1875" b="true">
                <a:solidFill>
                  <a:srgbClr val="1322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21000" y="4981575"/>
            <a:ext cx="1809750" cy="25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875" b="true">
                <a:solidFill>
                  <a:srgbClr val="1322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33750" y="9048750"/>
            <a:ext cx="11620500" cy="25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6"/>
              </a:lnSpc>
            </a:pPr>
            <a:r>
              <a:rPr lang="en-US" sz="1725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User-facing review and admin control points; «include» and «extend» expose key dependencies.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095750" y="3238500"/>
            <a:ext cx="2952750" cy="1047750"/>
            <a:chOff x="0" y="0"/>
            <a:chExt cx="3937000" cy="139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3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9370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339645"/>
                  </a:lnTo>
                  <a:cubicBezTo>
                    <a:pt x="3937000" y="1354857"/>
                    <a:pt x="3930957" y="1369445"/>
                    <a:pt x="3920201" y="1380201"/>
                  </a:cubicBezTo>
                  <a:cubicBezTo>
                    <a:pt x="3909445" y="1390957"/>
                    <a:pt x="3894856" y="1397000"/>
                    <a:pt x="3879645" y="1397000"/>
                  </a:cubicBezTo>
                  <a:lnTo>
                    <a:pt x="57355" y="1397000"/>
                  </a:lnTo>
                  <a:cubicBezTo>
                    <a:pt x="42143" y="1397000"/>
                    <a:pt x="27555" y="1390957"/>
                    <a:pt x="16799" y="1380201"/>
                  </a:cubicBezTo>
                  <a:cubicBezTo>
                    <a:pt x="6043" y="1369445"/>
                    <a:pt x="0" y="1354857"/>
                    <a:pt x="0" y="13396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E8F1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3937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View flagged anomalies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95750" y="4953000"/>
            <a:ext cx="2952750" cy="1047750"/>
            <a:chOff x="0" y="0"/>
            <a:chExt cx="3937000" cy="1397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3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9370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339645"/>
                  </a:lnTo>
                  <a:cubicBezTo>
                    <a:pt x="3937000" y="1354857"/>
                    <a:pt x="3930957" y="1369445"/>
                    <a:pt x="3920201" y="1380201"/>
                  </a:cubicBezTo>
                  <a:cubicBezTo>
                    <a:pt x="3909445" y="1390957"/>
                    <a:pt x="3894856" y="1397000"/>
                    <a:pt x="3879645" y="1397000"/>
                  </a:cubicBezTo>
                  <a:lnTo>
                    <a:pt x="57355" y="1397000"/>
                  </a:lnTo>
                  <a:cubicBezTo>
                    <a:pt x="42143" y="1397000"/>
                    <a:pt x="27555" y="1390957"/>
                    <a:pt x="16799" y="1380201"/>
                  </a:cubicBezTo>
                  <a:cubicBezTo>
                    <a:pt x="6043" y="1369445"/>
                    <a:pt x="0" y="1354857"/>
                    <a:pt x="0" y="13396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E8F1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937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View explanation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for anomaly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095750" y="6667500"/>
            <a:ext cx="2952750" cy="1047750"/>
            <a:chOff x="0" y="0"/>
            <a:chExt cx="3937000" cy="1397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3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9370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339645"/>
                  </a:lnTo>
                  <a:cubicBezTo>
                    <a:pt x="3937000" y="1354857"/>
                    <a:pt x="3930957" y="1369445"/>
                    <a:pt x="3920201" y="1380201"/>
                  </a:cubicBezTo>
                  <a:cubicBezTo>
                    <a:pt x="3909445" y="1390957"/>
                    <a:pt x="3894856" y="1397000"/>
                    <a:pt x="3879645" y="1397000"/>
                  </a:cubicBezTo>
                  <a:lnTo>
                    <a:pt x="57355" y="1397000"/>
                  </a:lnTo>
                  <a:cubicBezTo>
                    <a:pt x="42143" y="1397000"/>
                    <a:pt x="27555" y="1390957"/>
                    <a:pt x="16799" y="1380201"/>
                  </a:cubicBezTo>
                  <a:cubicBezTo>
                    <a:pt x="6043" y="1369445"/>
                    <a:pt x="0" y="1354857"/>
                    <a:pt x="0" y="13396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E8F1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3937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Export alert report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382000" y="3238500"/>
            <a:ext cx="2952750" cy="1047750"/>
            <a:chOff x="0" y="0"/>
            <a:chExt cx="3937000" cy="1397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3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9370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339645"/>
                  </a:lnTo>
                  <a:cubicBezTo>
                    <a:pt x="3937000" y="1354857"/>
                    <a:pt x="3930957" y="1369445"/>
                    <a:pt x="3920201" y="1380201"/>
                  </a:cubicBezTo>
                  <a:cubicBezTo>
                    <a:pt x="3909445" y="1390957"/>
                    <a:pt x="3894856" y="1397000"/>
                    <a:pt x="3879645" y="1397000"/>
                  </a:cubicBezTo>
                  <a:lnTo>
                    <a:pt x="57355" y="1397000"/>
                  </a:lnTo>
                  <a:cubicBezTo>
                    <a:pt x="42143" y="1397000"/>
                    <a:pt x="27555" y="1390957"/>
                    <a:pt x="16799" y="1380201"/>
                  </a:cubicBezTo>
                  <a:cubicBezTo>
                    <a:pt x="6043" y="1369445"/>
                    <a:pt x="0" y="1354857"/>
                    <a:pt x="0" y="13396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E8F1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937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View state-of-art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comparison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53750" y="4953000"/>
            <a:ext cx="2952750" cy="1047750"/>
            <a:chOff x="0" y="0"/>
            <a:chExt cx="3937000" cy="1397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3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9370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339645"/>
                  </a:lnTo>
                  <a:cubicBezTo>
                    <a:pt x="3937000" y="1354857"/>
                    <a:pt x="3930957" y="1369445"/>
                    <a:pt x="3920201" y="1380201"/>
                  </a:cubicBezTo>
                  <a:cubicBezTo>
                    <a:pt x="3909445" y="1390957"/>
                    <a:pt x="3894856" y="1397000"/>
                    <a:pt x="3879645" y="1397000"/>
                  </a:cubicBezTo>
                  <a:lnTo>
                    <a:pt x="57355" y="1397000"/>
                  </a:lnTo>
                  <a:cubicBezTo>
                    <a:pt x="42143" y="1397000"/>
                    <a:pt x="27555" y="1390957"/>
                    <a:pt x="16799" y="1380201"/>
                  </a:cubicBezTo>
                  <a:cubicBezTo>
                    <a:pt x="6043" y="1369445"/>
                    <a:pt x="0" y="1354857"/>
                    <a:pt x="0" y="13396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E8F1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937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Upload transaction data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53750" y="6667500"/>
            <a:ext cx="2952750" cy="1047750"/>
            <a:chOff x="0" y="0"/>
            <a:chExt cx="3937000" cy="1397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3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9370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339645"/>
                  </a:lnTo>
                  <a:cubicBezTo>
                    <a:pt x="3937000" y="1354857"/>
                    <a:pt x="3930957" y="1369445"/>
                    <a:pt x="3920201" y="1380201"/>
                  </a:cubicBezTo>
                  <a:cubicBezTo>
                    <a:pt x="3909445" y="1390957"/>
                    <a:pt x="3894856" y="1397000"/>
                    <a:pt x="3879645" y="1397000"/>
                  </a:cubicBezTo>
                  <a:lnTo>
                    <a:pt x="57355" y="1397000"/>
                  </a:lnTo>
                  <a:cubicBezTo>
                    <a:pt x="42143" y="1397000"/>
                    <a:pt x="27555" y="1390957"/>
                    <a:pt x="16799" y="1380201"/>
                  </a:cubicBezTo>
                  <a:cubicBezTo>
                    <a:pt x="6043" y="1369445"/>
                    <a:pt x="0" y="1354857"/>
                    <a:pt x="0" y="13396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E8F1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37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Configure triage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thresholds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096250" y="6667500"/>
            <a:ext cx="2952750" cy="1047750"/>
            <a:chOff x="0" y="0"/>
            <a:chExt cx="3937000" cy="1397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3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9370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339645"/>
                  </a:lnTo>
                  <a:cubicBezTo>
                    <a:pt x="3937000" y="1354857"/>
                    <a:pt x="3930957" y="1369445"/>
                    <a:pt x="3920201" y="1380201"/>
                  </a:cubicBezTo>
                  <a:cubicBezTo>
                    <a:pt x="3909445" y="1390957"/>
                    <a:pt x="3894856" y="1397000"/>
                    <a:pt x="3879645" y="1397000"/>
                  </a:cubicBezTo>
                  <a:lnTo>
                    <a:pt x="57355" y="1397000"/>
                  </a:lnTo>
                  <a:cubicBezTo>
                    <a:pt x="42143" y="1397000"/>
                    <a:pt x="27555" y="1390957"/>
                    <a:pt x="16799" y="1380201"/>
                  </a:cubicBezTo>
                  <a:cubicBezTo>
                    <a:pt x="6043" y="1369445"/>
                    <a:pt x="0" y="1354857"/>
                    <a:pt x="0" y="13396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E8F1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937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Run anomaly detection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>
            <a:off x="5572125" y="4286250"/>
            <a:ext cx="0" cy="666750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6" id="36"/>
          <p:cNvSpPr/>
          <p:nvPr/>
        </p:nvSpPr>
        <p:spPr>
          <a:xfrm flipH="true">
            <a:off x="10763250" y="6000750"/>
            <a:ext cx="1666875" cy="666750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7" id="37"/>
          <p:cNvSpPr/>
          <p:nvPr/>
        </p:nvSpPr>
        <p:spPr>
          <a:xfrm flipV="true">
            <a:off x="2667000" y="3762375"/>
            <a:ext cx="1428750" cy="1095375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8" id="38"/>
          <p:cNvSpPr/>
          <p:nvPr/>
        </p:nvSpPr>
        <p:spPr>
          <a:xfrm flipH="true">
            <a:off x="13906500" y="5429250"/>
            <a:ext cx="1714500" cy="47625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9" id="39"/>
          <p:cNvSpPr txBox="true"/>
          <p:nvPr/>
        </p:nvSpPr>
        <p:spPr>
          <a:xfrm rot="0">
            <a:off x="5715000" y="4419600"/>
            <a:ext cx="142875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«extend»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144250" y="6086475"/>
            <a:ext cx="142875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«include»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190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247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620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322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Activity diagram: score, decide, explain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6300" y="1619250"/>
            <a:ext cx="16535400" cy="19050"/>
            <a:chOff x="0" y="0"/>
            <a:chExt cx="220472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239000" y="2047875"/>
            <a:ext cx="3810000" cy="619125"/>
            <a:chOff x="0" y="0"/>
            <a:chExt cx="5080000" cy="825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80000" cy="825500"/>
            </a:xfrm>
            <a:custGeom>
              <a:avLst/>
              <a:gdLst/>
              <a:ahLst/>
              <a:cxnLst/>
              <a:rect r="r" b="b" t="t" l="l"/>
              <a:pathLst>
                <a:path h="825500" w="5080000">
                  <a:moveTo>
                    <a:pt x="44450" y="0"/>
                  </a:moveTo>
                  <a:lnTo>
                    <a:pt x="5035550" y="0"/>
                  </a:lnTo>
                  <a:cubicBezTo>
                    <a:pt x="5060099" y="0"/>
                    <a:pt x="5080000" y="19901"/>
                    <a:pt x="5080000" y="44450"/>
                  </a:cubicBezTo>
                  <a:lnTo>
                    <a:pt x="5080000" y="781050"/>
                  </a:lnTo>
                  <a:cubicBezTo>
                    <a:pt x="5080000" y="805599"/>
                    <a:pt x="5060099" y="825500"/>
                    <a:pt x="5035550" y="825500"/>
                  </a:cubicBezTo>
                  <a:lnTo>
                    <a:pt x="44450" y="825500"/>
                  </a:lnTo>
                  <a:cubicBezTo>
                    <a:pt x="19901" y="825500"/>
                    <a:pt x="0" y="805599"/>
                    <a:pt x="0" y="7810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0B1324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5080000" cy="806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START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9144000" y="2667000"/>
            <a:ext cx="0" cy="238125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6477000" y="2905125"/>
            <a:ext cx="5334000" cy="666750"/>
            <a:chOff x="0" y="0"/>
            <a:chExt cx="7112000" cy="88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1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7112000">
                  <a:moveTo>
                    <a:pt x="31750" y="0"/>
                  </a:moveTo>
                  <a:lnTo>
                    <a:pt x="7080250" y="0"/>
                  </a:lnTo>
                  <a:cubicBezTo>
                    <a:pt x="7097785" y="0"/>
                    <a:pt x="7112000" y="14215"/>
                    <a:pt x="7112000" y="31750"/>
                  </a:cubicBezTo>
                  <a:lnTo>
                    <a:pt x="7112000" y="857250"/>
                  </a:lnTo>
                  <a:cubicBezTo>
                    <a:pt x="7112000" y="874785"/>
                    <a:pt x="7097785" y="889000"/>
                    <a:pt x="7080250" y="889000"/>
                  </a:cubicBezTo>
                  <a:lnTo>
                    <a:pt x="31750" y="889000"/>
                  </a:lnTo>
                  <a:cubicBezTo>
                    <a:pt x="14215" y="889000"/>
                    <a:pt x="0" y="874785"/>
                    <a:pt x="0" y="857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71120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Upload transaction data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9144000" y="3571875"/>
            <a:ext cx="0" cy="333375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6477000" y="3905250"/>
            <a:ext cx="5334000" cy="666750"/>
            <a:chOff x="0" y="0"/>
            <a:chExt cx="7112000" cy="889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1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7112000">
                  <a:moveTo>
                    <a:pt x="31750" y="0"/>
                  </a:moveTo>
                  <a:lnTo>
                    <a:pt x="7080250" y="0"/>
                  </a:lnTo>
                  <a:cubicBezTo>
                    <a:pt x="7097785" y="0"/>
                    <a:pt x="7112000" y="14215"/>
                    <a:pt x="7112000" y="31750"/>
                  </a:cubicBezTo>
                  <a:lnTo>
                    <a:pt x="7112000" y="857250"/>
                  </a:lnTo>
                  <a:cubicBezTo>
                    <a:pt x="7112000" y="874785"/>
                    <a:pt x="7097785" y="889000"/>
                    <a:pt x="7080250" y="889000"/>
                  </a:cubicBezTo>
                  <a:lnTo>
                    <a:pt x="31750" y="889000"/>
                  </a:lnTo>
                  <a:cubicBezTo>
                    <a:pt x="14215" y="889000"/>
                    <a:pt x="0" y="874785"/>
                    <a:pt x="0" y="857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71120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Preprocess &amp; window data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9144000" y="4572000"/>
            <a:ext cx="0" cy="333375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6477000" y="4905375"/>
            <a:ext cx="5334000" cy="666750"/>
            <a:chOff x="0" y="0"/>
            <a:chExt cx="7112000" cy="889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1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7112000">
                  <a:moveTo>
                    <a:pt x="31750" y="0"/>
                  </a:moveTo>
                  <a:lnTo>
                    <a:pt x="7080250" y="0"/>
                  </a:lnTo>
                  <a:cubicBezTo>
                    <a:pt x="7097785" y="0"/>
                    <a:pt x="7112000" y="14215"/>
                    <a:pt x="7112000" y="31750"/>
                  </a:cubicBezTo>
                  <a:lnTo>
                    <a:pt x="7112000" y="857250"/>
                  </a:lnTo>
                  <a:cubicBezTo>
                    <a:pt x="7112000" y="874785"/>
                    <a:pt x="7097785" y="889000"/>
                    <a:pt x="7080250" y="889000"/>
                  </a:cubicBezTo>
                  <a:lnTo>
                    <a:pt x="31750" y="889000"/>
                  </a:lnTo>
                  <a:cubicBezTo>
                    <a:pt x="14215" y="889000"/>
                    <a:pt x="0" y="874785"/>
                    <a:pt x="0" y="857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71120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Compute anomaly score (ReVive)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9144000" y="5572125"/>
            <a:ext cx="0" cy="38100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3" id="23"/>
          <p:cNvGrpSpPr/>
          <p:nvPr/>
        </p:nvGrpSpPr>
        <p:grpSpPr>
          <a:xfrm rot="0">
            <a:off x="7239000" y="5953125"/>
            <a:ext cx="3810000" cy="762000"/>
            <a:chOff x="0" y="0"/>
            <a:chExt cx="5080000" cy="1016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8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5080000">
                  <a:moveTo>
                    <a:pt x="44450" y="0"/>
                  </a:moveTo>
                  <a:lnTo>
                    <a:pt x="5035550" y="0"/>
                  </a:lnTo>
                  <a:cubicBezTo>
                    <a:pt x="5060099" y="0"/>
                    <a:pt x="5080000" y="19901"/>
                    <a:pt x="5080000" y="44450"/>
                  </a:cubicBezTo>
                  <a:lnTo>
                    <a:pt x="5080000" y="971550"/>
                  </a:lnTo>
                  <a:cubicBezTo>
                    <a:pt x="5080000" y="996099"/>
                    <a:pt x="5060099" y="1016000"/>
                    <a:pt x="5035550" y="1016000"/>
                  </a:cubicBezTo>
                  <a:lnTo>
                    <a:pt x="44450" y="1016000"/>
                  </a:lnTo>
                  <a:cubicBezTo>
                    <a:pt x="19901" y="1016000"/>
                    <a:pt x="0" y="996099"/>
                    <a:pt x="0" y="97155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</a:path>
              </a:pathLst>
            </a:custGeom>
            <a:solidFill>
              <a:srgbClr val="19C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5080000" cy="99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SCORE ABOVE THRESHOLD?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381250" y="7239000"/>
            <a:ext cx="4095750" cy="857250"/>
            <a:chOff x="0" y="0"/>
            <a:chExt cx="5461000" cy="1143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61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5461000">
                  <a:moveTo>
                    <a:pt x="41349" y="0"/>
                  </a:moveTo>
                  <a:lnTo>
                    <a:pt x="5419651" y="0"/>
                  </a:lnTo>
                  <a:cubicBezTo>
                    <a:pt x="5430618" y="0"/>
                    <a:pt x="5441135" y="4356"/>
                    <a:pt x="5448889" y="12111"/>
                  </a:cubicBezTo>
                  <a:cubicBezTo>
                    <a:pt x="5456644" y="19865"/>
                    <a:pt x="5461000" y="30382"/>
                    <a:pt x="5461000" y="41349"/>
                  </a:cubicBezTo>
                  <a:lnTo>
                    <a:pt x="5461000" y="1101651"/>
                  </a:lnTo>
                  <a:cubicBezTo>
                    <a:pt x="5461000" y="1112618"/>
                    <a:pt x="5456644" y="1123135"/>
                    <a:pt x="5448889" y="1130889"/>
                  </a:cubicBezTo>
                  <a:cubicBezTo>
                    <a:pt x="5441135" y="1138644"/>
                    <a:pt x="5430618" y="1143000"/>
                    <a:pt x="5419651" y="1143000"/>
                  </a:cubicBezTo>
                  <a:lnTo>
                    <a:pt x="41349" y="1143000"/>
                  </a:lnTo>
                  <a:cubicBezTo>
                    <a:pt x="30382" y="1143000"/>
                    <a:pt x="19865" y="1138644"/>
                    <a:pt x="12111" y="1130889"/>
                  </a:cubicBezTo>
                  <a:cubicBezTo>
                    <a:pt x="4356" y="1123135"/>
                    <a:pt x="0" y="1112618"/>
                    <a:pt x="0" y="1101651"/>
                  </a:cubicBezTo>
                  <a:lnTo>
                    <a:pt x="0" y="41349"/>
                  </a:lnTo>
                  <a:cubicBezTo>
                    <a:pt x="0" y="30382"/>
                    <a:pt x="4356" y="19865"/>
                    <a:pt x="12111" y="12111"/>
                  </a:cubicBezTo>
                  <a:cubicBezTo>
                    <a:pt x="19865" y="4356"/>
                    <a:pt x="30382" y="0"/>
                    <a:pt x="41349" y="0"/>
                  </a:cubicBezTo>
                  <a:close/>
                </a:path>
              </a:pathLst>
            </a:custGeom>
            <a:solidFill>
              <a:srgbClr val="E8F1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5461000" cy="113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NO  ·  Mark normal &amp; log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11000" y="7096125"/>
            <a:ext cx="4286250" cy="1143000"/>
            <a:chOff x="0" y="0"/>
            <a:chExt cx="5715000" cy="152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15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5715000">
                  <a:moveTo>
                    <a:pt x="39511" y="0"/>
                  </a:moveTo>
                  <a:lnTo>
                    <a:pt x="5675489" y="0"/>
                  </a:lnTo>
                  <a:cubicBezTo>
                    <a:pt x="5685968" y="0"/>
                    <a:pt x="5696018" y="4163"/>
                    <a:pt x="5703427" y="11573"/>
                  </a:cubicBezTo>
                  <a:cubicBezTo>
                    <a:pt x="5710837" y="18982"/>
                    <a:pt x="5715000" y="29032"/>
                    <a:pt x="5715000" y="39511"/>
                  </a:cubicBezTo>
                  <a:lnTo>
                    <a:pt x="5715000" y="1484489"/>
                  </a:lnTo>
                  <a:cubicBezTo>
                    <a:pt x="5715000" y="1494968"/>
                    <a:pt x="5710837" y="1505018"/>
                    <a:pt x="5703427" y="1512427"/>
                  </a:cubicBezTo>
                  <a:cubicBezTo>
                    <a:pt x="5696018" y="1519837"/>
                    <a:pt x="5685968" y="1524000"/>
                    <a:pt x="5675489" y="1524000"/>
                  </a:cubicBezTo>
                  <a:lnTo>
                    <a:pt x="39511" y="1524000"/>
                  </a:lnTo>
                  <a:cubicBezTo>
                    <a:pt x="29032" y="1524000"/>
                    <a:pt x="18982" y="1519837"/>
                    <a:pt x="11573" y="1512427"/>
                  </a:cubicBezTo>
                  <a:cubicBezTo>
                    <a:pt x="4163" y="1505018"/>
                    <a:pt x="0" y="1494968"/>
                    <a:pt x="0" y="1484489"/>
                  </a:cubicBezTo>
                  <a:lnTo>
                    <a:pt x="0" y="39511"/>
                  </a:lnTo>
                  <a:cubicBezTo>
                    <a:pt x="0" y="29032"/>
                    <a:pt x="4163" y="18982"/>
                    <a:pt x="11573" y="11573"/>
                  </a:cubicBezTo>
                  <a:cubicBezTo>
                    <a:pt x="18982" y="4163"/>
                    <a:pt x="29032" y="0"/>
                    <a:pt x="39511" y="0"/>
                  </a:cubicBezTo>
                  <a:close/>
                </a:path>
              </a:pathLst>
            </a:custGeom>
            <a:solidFill>
              <a:srgbClr val="247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57150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YES  ·  Explain → Triage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Create alert &amp; store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flipH="true">
            <a:off x="6477000" y="6334125"/>
            <a:ext cx="762000" cy="133350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>
            <a:off x="11049000" y="6334125"/>
            <a:ext cx="762000" cy="133350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4" id="34"/>
          <p:cNvGrpSpPr/>
          <p:nvPr/>
        </p:nvGrpSpPr>
        <p:grpSpPr>
          <a:xfrm rot="0">
            <a:off x="6858000" y="8715375"/>
            <a:ext cx="4572000" cy="666750"/>
            <a:chOff x="0" y="0"/>
            <a:chExt cx="6096000" cy="889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9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6096000">
                  <a:moveTo>
                    <a:pt x="37042" y="0"/>
                  </a:moveTo>
                  <a:lnTo>
                    <a:pt x="6058958" y="0"/>
                  </a:lnTo>
                  <a:cubicBezTo>
                    <a:pt x="6079416" y="0"/>
                    <a:pt x="6096000" y="16584"/>
                    <a:pt x="6096000" y="37042"/>
                  </a:cubicBezTo>
                  <a:lnTo>
                    <a:pt x="6096000" y="851958"/>
                  </a:lnTo>
                  <a:cubicBezTo>
                    <a:pt x="6096000" y="872416"/>
                    <a:pt x="6079416" y="889000"/>
                    <a:pt x="6058958" y="889000"/>
                  </a:cubicBezTo>
                  <a:lnTo>
                    <a:pt x="37042" y="889000"/>
                  </a:lnTo>
                  <a:cubicBezTo>
                    <a:pt x="16584" y="889000"/>
                    <a:pt x="0" y="872416"/>
                    <a:pt x="0" y="851958"/>
                  </a:cubicBezTo>
                  <a:lnTo>
                    <a:pt x="0" y="37042"/>
                  </a:lnTo>
                  <a:cubicBezTo>
                    <a:pt x="0" y="16584"/>
                    <a:pt x="16584" y="0"/>
                    <a:pt x="37042" y="0"/>
                  </a:cubicBezTo>
                  <a:close/>
                </a:path>
              </a:pathLst>
            </a:custGeom>
            <a:solidFill>
              <a:srgbClr val="0B1324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60960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DISPLAY ON DASHBOARD  →  END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>
            <a:off x="6477000" y="7667625"/>
            <a:ext cx="381000" cy="1381125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8" id="38"/>
          <p:cNvSpPr/>
          <p:nvPr/>
        </p:nvSpPr>
        <p:spPr>
          <a:xfrm flipH="true">
            <a:off x="11430000" y="8239125"/>
            <a:ext cx="2524125" cy="809625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190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247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620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322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Class diagram: modular by design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6300" y="1619250"/>
            <a:ext cx="16535400" cy="19050"/>
            <a:chOff x="0" y="0"/>
            <a:chExt cx="220472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4875" y="2238375"/>
            <a:ext cx="4857750" cy="1666875"/>
            <a:chOff x="0" y="0"/>
            <a:chExt cx="6477000" cy="2222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77000" cy="2222500"/>
            </a:xfrm>
            <a:custGeom>
              <a:avLst/>
              <a:gdLst/>
              <a:ahLst/>
              <a:cxnLst/>
              <a:rect r="r" b="b" t="t" l="l"/>
              <a:pathLst>
                <a:path h="2222500" w="6477000">
                  <a:moveTo>
                    <a:pt x="34863" y="0"/>
                  </a:moveTo>
                  <a:lnTo>
                    <a:pt x="6442137" y="0"/>
                  </a:lnTo>
                  <a:cubicBezTo>
                    <a:pt x="6461391" y="0"/>
                    <a:pt x="6477000" y="15609"/>
                    <a:pt x="6477000" y="34863"/>
                  </a:cubicBezTo>
                  <a:lnTo>
                    <a:pt x="6477000" y="2187637"/>
                  </a:lnTo>
                  <a:cubicBezTo>
                    <a:pt x="6477000" y="2206891"/>
                    <a:pt x="6461391" y="2222500"/>
                    <a:pt x="6442137" y="2222500"/>
                  </a:cubicBezTo>
                  <a:lnTo>
                    <a:pt x="34863" y="2222500"/>
                  </a:lnTo>
                  <a:cubicBezTo>
                    <a:pt x="15609" y="2222500"/>
                    <a:pt x="0" y="2206891"/>
                    <a:pt x="0" y="2187637"/>
                  </a:cubicBezTo>
                  <a:lnTo>
                    <a:pt x="0" y="34863"/>
                  </a:lnTo>
                  <a:cubicBezTo>
                    <a:pt x="0" y="15609"/>
                    <a:pt x="15609" y="0"/>
                    <a:pt x="3486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6477000" cy="2212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DashboardUI</a:t>
              </a:r>
            </a:p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chart_data: dict</a:t>
              </a:r>
            </a:p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render_timeline() · show_alert_detail()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5762625" y="3076575"/>
            <a:ext cx="904875" cy="0"/>
          </a:xfrm>
          <a:prstGeom prst="line">
            <a:avLst/>
          </a:prstGeom>
          <a:ln cap="rnd" w="28575">
            <a:solidFill>
              <a:srgbClr val="CBD5E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6715125" y="2238375"/>
            <a:ext cx="4857750" cy="1666875"/>
            <a:chOff x="0" y="0"/>
            <a:chExt cx="6477000" cy="2222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77000" cy="2222500"/>
            </a:xfrm>
            <a:custGeom>
              <a:avLst/>
              <a:gdLst/>
              <a:ahLst/>
              <a:cxnLst/>
              <a:rect r="r" b="b" t="t" l="l"/>
              <a:pathLst>
                <a:path h="2222500" w="6477000">
                  <a:moveTo>
                    <a:pt x="34863" y="0"/>
                  </a:moveTo>
                  <a:lnTo>
                    <a:pt x="6442137" y="0"/>
                  </a:lnTo>
                  <a:cubicBezTo>
                    <a:pt x="6461391" y="0"/>
                    <a:pt x="6477000" y="15609"/>
                    <a:pt x="6477000" y="34863"/>
                  </a:cubicBezTo>
                  <a:lnTo>
                    <a:pt x="6477000" y="2187637"/>
                  </a:lnTo>
                  <a:cubicBezTo>
                    <a:pt x="6477000" y="2206891"/>
                    <a:pt x="6461391" y="2222500"/>
                    <a:pt x="6442137" y="2222500"/>
                  </a:cubicBezTo>
                  <a:lnTo>
                    <a:pt x="34863" y="2222500"/>
                  </a:lnTo>
                  <a:cubicBezTo>
                    <a:pt x="15609" y="2222500"/>
                    <a:pt x="0" y="2206891"/>
                    <a:pt x="0" y="2187637"/>
                  </a:cubicBezTo>
                  <a:lnTo>
                    <a:pt x="0" y="34863"/>
                  </a:lnTo>
                  <a:cubicBezTo>
                    <a:pt x="0" y="15609"/>
                    <a:pt x="15609" y="0"/>
                    <a:pt x="3486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6477000" cy="2212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APIController</a:t>
              </a:r>
            </a:p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routes: dict</a:t>
              </a:r>
            </a:p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predict() · get_alerts()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1572875" y="3076575"/>
            <a:ext cx="904875" cy="0"/>
          </a:xfrm>
          <a:prstGeom prst="line">
            <a:avLst/>
          </a:prstGeom>
          <a:ln cap="rnd" w="28575">
            <a:solidFill>
              <a:srgbClr val="CBD5E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12525375" y="2238375"/>
            <a:ext cx="4857750" cy="1666875"/>
            <a:chOff x="0" y="0"/>
            <a:chExt cx="6477000" cy="2222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77000" cy="2222500"/>
            </a:xfrm>
            <a:custGeom>
              <a:avLst/>
              <a:gdLst/>
              <a:ahLst/>
              <a:cxnLst/>
              <a:rect r="r" b="b" t="t" l="l"/>
              <a:pathLst>
                <a:path h="2222500" w="6477000">
                  <a:moveTo>
                    <a:pt x="34863" y="0"/>
                  </a:moveTo>
                  <a:lnTo>
                    <a:pt x="6442137" y="0"/>
                  </a:lnTo>
                  <a:cubicBezTo>
                    <a:pt x="6461391" y="0"/>
                    <a:pt x="6477000" y="15609"/>
                    <a:pt x="6477000" y="34863"/>
                  </a:cubicBezTo>
                  <a:lnTo>
                    <a:pt x="6477000" y="2187637"/>
                  </a:lnTo>
                  <a:cubicBezTo>
                    <a:pt x="6477000" y="2206891"/>
                    <a:pt x="6461391" y="2222500"/>
                    <a:pt x="6442137" y="2222500"/>
                  </a:cubicBezTo>
                  <a:lnTo>
                    <a:pt x="34863" y="2222500"/>
                  </a:lnTo>
                  <a:cubicBezTo>
                    <a:pt x="15609" y="2222500"/>
                    <a:pt x="0" y="2206891"/>
                    <a:pt x="0" y="2187637"/>
                  </a:cubicBezTo>
                  <a:lnTo>
                    <a:pt x="0" y="34863"/>
                  </a:lnTo>
                  <a:cubicBezTo>
                    <a:pt x="0" y="15609"/>
                    <a:pt x="15609" y="0"/>
                    <a:pt x="3486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6477000" cy="2212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DataIngestor</a:t>
              </a:r>
            </a:p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file_path: str</a:t>
              </a:r>
            </a:p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load_csv() · validate_schema()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flipH="true">
            <a:off x="14954250" y="3076575"/>
            <a:ext cx="2428875" cy="1495425"/>
          </a:xfrm>
          <a:prstGeom prst="line">
            <a:avLst/>
          </a:prstGeom>
          <a:ln cap="rnd" w="28575">
            <a:solidFill>
              <a:srgbClr val="CBD5E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904875" y="4572000"/>
            <a:ext cx="4857750" cy="1666875"/>
            <a:chOff x="0" y="0"/>
            <a:chExt cx="6477000" cy="2222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77000" cy="2222500"/>
            </a:xfrm>
            <a:custGeom>
              <a:avLst/>
              <a:gdLst/>
              <a:ahLst/>
              <a:cxnLst/>
              <a:rect r="r" b="b" t="t" l="l"/>
              <a:pathLst>
                <a:path h="2222500" w="6477000">
                  <a:moveTo>
                    <a:pt x="34863" y="0"/>
                  </a:moveTo>
                  <a:lnTo>
                    <a:pt x="6442137" y="0"/>
                  </a:lnTo>
                  <a:cubicBezTo>
                    <a:pt x="6461391" y="0"/>
                    <a:pt x="6477000" y="15609"/>
                    <a:pt x="6477000" y="34863"/>
                  </a:cubicBezTo>
                  <a:lnTo>
                    <a:pt x="6477000" y="2187637"/>
                  </a:lnTo>
                  <a:cubicBezTo>
                    <a:pt x="6477000" y="2206891"/>
                    <a:pt x="6461391" y="2222500"/>
                    <a:pt x="6442137" y="2222500"/>
                  </a:cubicBezTo>
                  <a:lnTo>
                    <a:pt x="34863" y="2222500"/>
                  </a:lnTo>
                  <a:cubicBezTo>
                    <a:pt x="15609" y="2222500"/>
                    <a:pt x="0" y="2206891"/>
                    <a:pt x="0" y="2187637"/>
                  </a:cubicBezTo>
                  <a:lnTo>
                    <a:pt x="0" y="34863"/>
                  </a:lnTo>
                  <a:cubicBezTo>
                    <a:pt x="0" y="15609"/>
                    <a:pt x="15609" y="0"/>
                    <a:pt x="3486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6477000" cy="2212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Preprocessor</a:t>
              </a:r>
            </a:p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window_size: int</a:t>
              </a:r>
            </a:p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clean_data() · normalize() · extract_windows()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762625" y="5410200"/>
            <a:ext cx="904875" cy="0"/>
          </a:xfrm>
          <a:prstGeom prst="line">
            <a:avLst/>
          </a:prstGeom>
          <a:ln cap="rnd" w="28575">
            <a:solidFill>
              <a:srgbClr val="CBD5E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3" id="23"/>
          <p:cNvGrpSpPr/>
          <p:nvPr/>
        </p:nvGrpSpPr>
        <p:grpSpPr>
          <a:xfrm rot="0">
            <a:off x="6715125" y="4572000"/>
            <a:ext cx="4857750" cy="1666875"/>
            <a:chOff x="0" y="0"/>
            <a:chExt cx="6477000" cy="2222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77000" cy="2222500"/>
            </a:xfrm>
            <a:custGeom>
              <a:avLst/>
              <a:gdLst/>
              <a:ahLst/>
              <a:cxnLst/>
              <a:rect r="r" b="b" t="t" l="l"/>
              <a:pathLst>
                <a:path h="2222500" w="6477000">
                  <a:moveTo>
                    <a:pt x="34863" y="0"/>
                  </a:moveTo>
                  <a:lnTo>
                    <a:pt x="6442137" y="0"/>
                  </a:lnTo>
                  <a:cubicBezTo>
                    <a:pt x="6461391" y="0"/>
                    <a:pt x="6477000" y="15609"/>
                    <a:pt x="6477000" y="34863"/>
                  </a:cubicBezTo>
                  <a:lnTo>
                    <a:pt x="6477000" y="2187637"/>
                  </a:lnTo>
                  <a:cubicBezTo>
                    <a:pt x="6477000" y="2206891"/>
                    <a:pt x="6461391" y="2222500"/>
                    <a:pt x="6442137" y="2222500"/>
                  </a:cubicBezTo>
                  <a:lnTo>
                    <a:pt x="34863" y="2222500"/>
                  </a:lnTo>
                  <a:cubicBezTo>
                    <a:pt x="15609" y="2222500"/>
                    <a:pt x="0" y="2206891"/>
                    <a:pt x="0" y="2187637"/>
                  </a:cubicBezTo>
                  <a:lnTo>
                    <a:pt x="0" y="34863"/>
                  </a:lnTo>
                  <a:cubicBezTo>
                    <a:pt x="0" y="15609"/>
                    <a:pt x="15609" y="0"/>
                    <a:pt x="34863" y="0"/>
                  </a:cubicBezTo>
                  <a:close/>
                </a:path>
              </a:pathLst>
            </a:custGeom>
            <a:solidFill>
              <a:srgbClr val="247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6477000" cy="2212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ReVive (RepairModel)</a:t>
              </a:r>
            </a:p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hidden_dim · num_channels</a:t>
              </a:r>
            </a:p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forward(x) · train_step()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1572875" y="5410200"/>
            <a:ext cx="904875" cy="0"/>
          </a:xfrm>
          <a:prstGeom prst="line">
            <a:avLst/>
          </a:prstGeom>
          <a:ln cap="rnd" w="28575">
            <a:solidFill>
              <a:srgbClr val="CBD5E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7" id="27"/>
          <p:cNvGrpSpPr/>
          <p:nvPr/>
        </p:nvGrpSpPr>
        <p:grpSpPr>
          <a:xfrm rot="0">
            <a:off x="12525375" y="4572000"/>
            <a:ext cx="4857750" cy="1666875"/>
            <a:chOff x="0" y="0"/>
            <a:chExt cx="6477000" cy="2222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77000" cy="2222500"/>
            </a:xfrm>
            <a:custGeom>
              <a:avLst/>
              <a:gdLst/>
              <a:ahLst/>
              <a:cxnLst/>
              <a:rect r="r" b="b" t="t" l="l"/>
              <a:pathLst>
                <a:path h="2222500" w="6477000">
                  <a:moveTo>
                    <a:pt x="34863" y="0"/>
                  </a:moveTo>
                  <a:lnTo>
                    <a:pt x="6442137" y="0"/>
                  </a:lnTo>
                  <a:cubicBezTo>
                    <a:pt x="6461391" y="0"/>
                    <a:pt x="6477000" y="15609"/>
                    <a:pt x="6477000" y="34863"/>
                  </a:cubicBezTo>
                  <a:lnTo>
                    <a:pt x="6477000" y="2187637"/>
                  </a:lnTo>
                  <a:cubicBezTo>
                    <a:pt x="6477000" y="2206891"/>
                    <a:pt x="6461391" y="2222500"/>
                    <a:pt x="6442137" y="2222500"/>
                  </a:cubicBezTo>
                  <a:lnTo>
                    <a:pt x="34863" y="2222500"/>
                  </a:lnTo>
                  <a:cubicBezTo>
                    <a:pt x="15609" y="2222500"/>
                    <a:pt x="0" y="2206891"/>
                    <a:pt x="0" y="2187637"/>
                  </a:cubicBezTo>
                  <a:lnTo>
                    <a:pt x="0" y="34863"/>
                  </a:lnTo>
                  <a:cubicBezTo>
                    <a:pt x="0" y="15609"/>
                    <a:pt x="15609" y="0"/>
                    <a:pt x="3486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6477000" cy="2212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ScoringEngine</a:t>
              </a:r>
            </a:p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weights: dict</a:t>
              </a:r>
            </a:p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structural_score() · robust_standardize()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flipH="true">
            <a:off x="14954250" y="5410200"/>
            <a:ext cx="2428875" cy="1495425"/>
          </a:xfrm>
          <a:prstGeom prst="line">
            <a:avLst/>
          </a:prstGeom>
          <a:ln cap="rnd" w="28575">
            <a:solidFill>
              <a:srgbClr val="CBD5E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1" id="31"/>
          <p:cNvGrpSpPr/>
          <p:nvPr/>
        </p:nvGrpSpPr>
        <p:grpSpPr>
          <a:xfrm rot="0">
            <a:off x="904875" y="6905625"/>
            <a:ext cx="4857750" cy="1666875"/>
            <a:chOff x="0" y="0"/>
            <a:chExt cx="6477000" cy="2222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477000" cy="2222500"/>
            </a:xfrm>
            <a:custGeom>
              <a:avLst/>
              <a:gdLst/>
              <a:ahLst/>
              <a:cxnLst/>
              <a:rect r="r" b="b" t="t" l="l"/>
              <a:pathLst>
                <a:path h="2222500" w="6477000">
                  <a:moveTo>
                    <a:pt x="34863" y="0"/>
                  </a:moveTo>
                  <a:lnTo>
                    <a:pt x="6442137" y="0"/>
                  </a:lnTo>
                  <a:cubicBezTo>
                    <a:pt x="6461391" y="0"/>
                    <a:pt x="6477000" y="15609"/>
                    <a:pt x="6477000" y="34863"/>
                  </a:cubicBezTo>
                  <a:lnTo>
                    <a:pt x="6477000" y="2187637"/>
                  </a:lnTo>
                  <a:cubicBezTo>
                    <a:pt x="6477000" y="2206891"/>
                    <a:pt x="6461391" y="2222500"/>
                    <a:pt x="6442137" y="2222500"/>
                  </a:cubicBezTo>
                  <a:lnTo>
                    <a:pt x="34863" y="2222500"/>
                  </a:lnTo>
                  <a:cubicBezTo>
                    <a:pt x="15609" y="2222500"/>
                    <a:pt x="0" y="2206891"/>
                    <a:pt x="0" y="2187637"/>
                  </a:cubicBezTo>
                  <a:lnTo>
                    <a:pt x="0" y="34863"/>
                  </a:lnTo>
                  <a:cubicBezTo>
                    <a:pt x="0" y="15609"/>
                    <a:pt x="15609" y="0"/>
                    <a:pt x="34863" y="0"/>
                  </a:cubicBezTo>
                  <a:close/>
                </a:path>
              </a:pathLst>
            </a:custGeom>
            <a:solidFill>
              <a:srgbClr val="D7F6F1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6477000" cy="2212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ExplainabilityModule</a:t>
              </a:r>
            </a:p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threshold: float</a:t>
              </a:r>
            </a:p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feature_attribution() · timestep_attribution()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5762625" y="7743825"/>
            <a:ext cx="904875" cy="0"/>
          </a:xfrm>
          <a:prstGeom prst="line">
            <a:avLst/>
          </a:prstGeom>
          <a:ln cap="rnd" w="28575">
            <a:solidFill>
              <a:srgbClr val="CBD5E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5" id="35"/>
          <p:cNvGrpSpPr/>
          <p:nvPr/>
        </p:nvGrpSpPr>
        <p:grpSpPr>
          <a:xfrm rot="0">
            <a:off x="6715125" y="6905625"/>
            <a:ext cx="4857750" cy="1666875"/>
            <a:chOff x="0" y="0"/>
            <a:chExt cx="6477000" cy="22225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77000" cy="2222500"/>
            </a:xfrm>
            <a:custGeom>
              <a:avLst/>
              <a:gdLst/>
              <a:ahLst/>
              <a:cxnLst/>
              <a:rect r="r" b="b" t="t" l="l"/>
              <a:pathLst>
                <a:path h="2222500" w="6477000">
                  <a:moveTo>
                    <a:pt x="34863" y="0"/>
                  </a:moveTo>
                  <a:lnTo>
                    <a:pt x="6442137" y="0"/>
                  </a:lnTo>
                  <a:cubicBezTo>
                    <a:pt x="6461391" y="0"/>
                    <a:pt x="6477000" y="15609"/>
                    <a:pt x="6477000" y="34863"/>
                  </a:cubicBezTo>
                  <a:lnTo>
                    <a:pt x="6477000" y="2187637"/>
                  </a:lnTo>
                  <a:cubicBezTo>
                    <a:pt x="6477000" y="2206891"/>
                    <a:pt x="6461391" y="2222500"/>
                    <a:pt x="6442137" y="2222500"/>
                  </a:cubicBezTo>
                  <a:lnTo>
                    <a:pt x="34863" y="2222500"/>
                  </a:lnTo>
                  <a:cubicBezTo>
                    <a:pt x="15609" y="2222500"/>
                    <a:pt x="0" y="2206891"/>
                    <a:pt x="0" y="2187637"/>
                  </a:cubicBezTo>
                  <a:lnTo>
                    <a:pt x="0" y="34863"/>
                  </a:lnTo>
                  <a:cubicBezTo>
                    <a:pt x="0" y="15609"/>
                    <a:pt x="15609" y="0"/>
                    <a:pt x="3486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9525"/>
              <a:ext cx="6477000" cy="2212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TriageClassifier</a:t>
              </a:r>
            </a:p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thresholds: dict</a:t>
              </a:r>
            </a:p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classify(score): str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>
            <a:off x="11572875" y="7743825"/>
            <a:ext cx="904875" cy="0"/>
          </a:xfrm>
          <a:prstGeom prst="line">
            <a:avLst/>
          </a:prstGeom>
          <a:ln cap="rnd" w="28575">
            <a:solidFill>
              <a:srgbClr val="CBD5E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9" id="39"/>
          <p:cNvGrpSpPr/>
          <p:nvPr/>
        </p:nvGrpSpPr>
        <p:grpSpPr>
          <a:xfrm rot="0">
            <a:off x="12525375" y="6905625"/>
            <a:ext cx="4857750" cy="1666875"/>
            <a:chOff x="0" y="0"/>
            <a:chExt cx="6477000" cy="22225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77000" cy="2222500"/>
            </a:xfrm>
            <a:custGeom>
              <a:avLst/>
              <a:gdLst/>
              <a:ahLst/>
              <a:cxnLst/>
              <a:rect r="r" b="b" t="t" l="l"/>
              <a:pathLst>
                <a:path h="2222500" w="6477000">
                  <a:moveTo>
                    <a:pt x="34863" y="0"/>
                  </a:moveTo>
                  <a:lnTo>
                    <a:pt x="6442137" y="0"/>
                  </a:lnTo>
                  <a:cubicBezTo>
                    <a:pt x="6461391" y="0"/>
                    <a:pt x="6477000" y="15609"/>
                    <a:pt x="6477000" y="34863"/>
                  </a:cubicBezTo>
                  <a:lnTo>
                    <a:pt x="6477000" y="2187637"/>
                  </a:lnTo>
                  <a:cubicBezTo>
                    <a:pt x="6477000" y="2206891"/>
                    <a:pt x="6461391" y="2222500"/>
                    <a:pt x="6442137" y="2222500"/>
                  </a:cubicBezTo>
                  <a:lnTo>
                    <a:pt x="34863" y="2222500"/>
                  </a:lnTo>
                  <a:cubicBezTo>
                    <a:pt x="15609" y="2222500"/>
                    <a:pt x="0" y="2206891"/>
                    <a:pt x="0" y="2187637"/>
                  </a:cubicBezTo>
                  <a:lnTo>
                    <a:pt x="0" y="34863"/>
                  </a:lnTo>
                  <a:cubicBezTo>
                    <a:pt x="0" y="15609"/>
                    <a:pt x="15609" y="0"/>
                    <a:pt x="3486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6477000" cy="2212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AlertRecord</a:t>
              </a:r>
            </a:p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id · timestamp · score</a:t>
              </a:r>
            </a:p>
            <a:p>
              <a:pPr algn="ctr">
                <a:lnSpc>
                  <a:spcPts val="1638"/>
                </a:lnSpc>
              </a:pPr>
              <a:r>
                <a:rPr lang="en-US" sz="142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explanation · triage_level · save()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2857500" y="9467850"/>
            <a:ext cx="12573000" cy="24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575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Requests move through ingestion → repair → scoring → explanation/triage → persistent alert records.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190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247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620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322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Level-1 data flow diagram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6300" y="1619250"/>
            <a:ext cx="16535400" cy="19050"/>
            <a:chOff x="0" y="0"/>
            <a:chExt cx="220472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619375" y="2238375"/>
            <a:ext cx="13049250" cy="6191250"/>
            <a:chOff x="0" y="0"/>
            <a:chExt cx="17399000" cy="825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99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17399000">
                  <a:moveTo>
                    <a:pt x="0" y="0"/>
                  </a:moveTo>
                  <a:lnTo>
                    <a:pt x="17399000" y="0"/>
                  </a:lnTo>
                  <a:lnTo>
                    <a:pt x="17399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478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73990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333750" y="4191000"/>
            <a:ext cx="1809750" cy="1428750"/>
            <a:chOff x="0" y="0"/>
            <a:chExt cx="2413000" cy="190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93579" y="0"/>
                  </a:moveTo>
                  <a:lnTo>
                    <a:pt x="2319421" y="0"/>
                  </a:lnTo>
                  <a:cubicBezTo>
                    <a:pt x="2344240" y="0"/>
                    <a:pt x="2368042" y="9859"/>
                    <a:pt x="2385591" y="27409"/>
                  </a:cubicBezTo>
                  <a:cubicBezTo>
                    <a:pt x="2403141" y="44958"/>
                    <a:pt x="2413000" y="68760"/>
                    <a:pt x="2413000" y="93579"/>
                  </a:cubicBezTo>
                  <a:lnTo>
                    <a:pt x="2413000" y="1811421"/>
                  </a:lnTo>
                  <a:cubicBezTo>
                    <a:pt x="2413000" y="1836240"/>
                    <a:pt x="2403141" y="1860042"/>
                    <a:pt x="2385591" y="1877591"/>
                  </a:cubicBezTo>
                  <a:cubicBezTo>
                    <a:pt x="2368042" y="1895141"/>
                    <a:pt x="2344240" y="1905000"/>
                    <a:pt x="2319421" y="1905000"/>
                  </a:cubicBezTo>
                  <a:lnTo>
                    <a:pt x="93579" y="1905000"/>
                  </a:lnTo>
                  <a:cubicBezTo>
                    <a:pt x="68760" y="1905000"/>
                    <a:pt x="44958" y="1895141"/>
                    <a:pt x="27409" y="1877591"/>
                  </a:cubicBezTo>
                  <a:cubicBezTo>
                    <a:pt x="9859" y="1860042"/>
                    <a:pt x="0" y="1836240"/>
                    <a:pt x="0" y="1811421"/>
                  </a:cubicBezTo>
                  <a:lnTo>
                    <a:pt x="0" y="93579"/>
                  </a:lnTo>
                  <a:cubicBezTo>
                    <a:pt x="0" y="68760"/>
                    <a:pt x="9859" y="44958"/>
                    <a:pt x="27409" y="27409"/>
                  </a:cubicBezTo>
                  <a:cubicBezTo>
                    <a:pt x="44958" y="9859"/>
                    <a:pt x="68760" y="0"/>
                    <a:pt x="93579" y="0"/>
                  </a:cubicBezTo>
                  <a:close/>
                </a:path>
              </a:pathLst>
            </a:custGeom>
            <a:solidFill>
              <a:srgbClr val="E8F1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2413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1.0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INGEST DATA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5143500" y="4905375"/>
            <a:ext cx="666750" cy="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5810250" y="4191000"/>
            <a:ext cx="1809750" cy="1428750"/>
            <a:chOff x="0" y="0"/>
            <a:chExt cx="2413000" cy="190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93579" y="0"/>
                  </a:moveTo>
                  <a:lnTo>
                    <a:pt x="2319421" y="0"/>
                  </a:lnTo>
                  <a:cubicBezTo>
                    <a:pt x="2344240" y="0"/>
                    <a:pt x="2368042" y="9859"/>
                    <a:pt x="2385591" y="27409"/>
                  </a:cubicBezTo>
                  <a:cubicBezTo>
                    <a:pt x="2403141" y="44958"/>
                    <a:pt x="2413000" y="68760"/>
                    <a:pt x="2413000" y="93579"/>
                  </a:cubicBezTo>
                  <a:lnTo>
                    <a:pt x="2413000" y="1811421"/>
                  </a:lnTo>
                  <a:cubicBezTo>
                    <a:pt x="2413000" y="1836240"/>
                    <a:pt x="2403141" y="1860042"/>
                    <a:pt x="2385591" y="1877591"/>
                  </a:cubicBezTo>
                  <a:cubicBezTo>
                    <a:pt x="2368042" y="1895141"/>
                    <a:pt x="2344240" y="1905000"/>
                    <a:pt x="2319421" y="1905000"/>
                  </a:cubicBezTo>
                  <a:lnTo>
                    <a:pt x="93579" y="1905000"/>
                  </a:lnTo>
                  <a:cubicBezTo>
                    <a:pt x="68760" y="1905000"/>
                    <a:pt x="44958" y="1895141"/>
                    <a:pt x="27409" y="1877591"/>
                  </a:cubicBezTo>
                  <a:cubicBezTo>
                    <a:pt x="9859" y="1860042"/>
                    <a:pt x="0" y="1836240"/>
                    <a:pt x="0" y="1811421"/>
                  </a:cubicBezTo>
                  <a:lnTo>
                    <a:pt x="0" y="93579"/>
                  </a:lnTo>
                  <a:cubicBezTo>
                    <a:pt x="0" y="68760"/>
                    <a:pt x="9859" y="44958"/>
                    <a:pt x="27409" y="27409"/>
                  </a:cubicBezTo>
                  <a:cubicBezTo>
                    <a:pt x="44958" y="9859"/>
                    <a:pt x="68760" y="0"/>
                    <a:pt x="93579" y="0"/>
                  </a:cubicBezTo>
                  <a:close/>
                </a:path>
              </a:pathLst>
            </a:custGeom>
            <a:solidFill>
              <a:srgbClr val="E8F1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2413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2.0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PREPROCESS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7620000" y="4905375"/>
            <a:ext cx="666750" cy="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8286750" y="4191000"/>
            <a:ext cx="1809750" cy="1428750"/>
            <a:chOff x="0" y="0"/>
            <a:chExt cx="24130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93579" y="0"/>
                  </a:moveTo>
                  <a:lnTo>
                    <a:pt x="2319421" y="0"/>
                  </a:lnTo>
                  <a:cubicBezTo>
                    <a:pt x="2344240" y="0"/>
                    <a:pt x="2368042" y="9859"/>
                    <a:pt x="2385591" y="27409"/>
                  </a:cubicBezTo>
                  <a:cubicBezTo>
                    <a:pt x="2403141" y="44958"/>
                    <a:pt x="2413000" y="68760"/>
                    <a:pt x="2413000" y="93579"/>
                  </a:cubicBezTo>
                  <a:lnTo>
                    <a:pt x="2413000" y="1811421"/>
                  </a:lnTo>
                  <a:cubicBezTo>
                    <a:pt x="2413000" y="1836240"/>
                    <a:pt x="2403141" y="1860042"/>
                    <a:pt x="2385591" y="1877591"/>
                  </a:cubicBezTo>
                  <a:cubicBezTo>
                    <a:pt x="2368042" y="1895141"/>
                    <a:pt x="2344240" y="1905000"/>
                    <a:pt x="2319421" y="1905000"/>
                  </a:cubicBezTo>
                  <a:lnTo>
                    <a:pt x="93579" y="1905000"/>
                  </a:lnTo>
                  <a:cubicBezTo>
                    <a:pt x="68760" y="1905000"/>
                    <a:pt x="44958" y="1895141"/>
                    <a:pt x="27409" y="1877591"/>
                  </a:cubicBezTo>
                  <a:cubicBezTo>
                    <a:pt x="9859" y="1860042"/>
                    <a:pt x="0" y="1836240"/>
                    <a:pt x="0" y="1811421"/>
                  </a:cubicBezTo>
                  <a:lnTo>
                    <a:pt x="0" y="93579"/>
                  </a:lnTo>
                  <a:cubicBezTo>
                    <a:pt x="0" y="68760"/>
                    <a:pt x="9859" y="44958"/>
                    <a:pt x="27409" y="27409"/>
                  </a:cubicBezTo>
                  <a:cubicBezTo>
                    <a:pt x="44958" y="9859"/>
                    <a:pt x="68760" y="0"/>
                    <a:pt x="93579" y="0"/>
                  </a:cubicBezTo>
                  <a:close/>
                </a:path>
              </a:pathLst>
            </a:custGeom>
            <a:solidFill>
              <a:srgbClr val="247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2413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3.0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DETECT ANOMALY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0096500" y="4905375"/>
            <a:ext cx="666750" cy="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2" id="22"/>
          <p:cNvGrpSpPr/>
          <p:nvPr/>
        </p:nvGrpSpPr>
        <p:grpSpPr>
          <a:xfrm rot="0">
            <a:off x="10763250" y="4191000"/>
            <a:ext cx="1809750" cy="1428750"/>
            <a:chOff x="0" y="0"/>
            <a:chExt cx="2413000" cy="1905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93579" y="0"/>
                  </a:moveTo>
                  <a:lnTo>
                    <a:pt x="2319421" y="0"/>
                  </a:lnTo>
                  <a:cubicBezTo>
                    <a:pt x="2344240" y="0"/>
                    <a:pt x="2368042" y="9859"/>
                    <a:pt x="2385591" y="27409"/>
                  </a:cubicBezTo>
                  <a:cubicBezTo>
                    <a:pt x="2403141" y="44958"/>
                    <a:pt x="2413000" y="68760"/>
                    <a:pt x="2413000" y="93579"/>
                  </a:cubicBezTo>
                  <a:lnTo>
                    <a:pt x="2413000" y="1811421"/>
                  </a:lnTo>
                  <a:cubicBezTo>
                    <a:pt x="2413000" y="1836240"/>
                    <a:pt x="2403141" y="1860042"/>
                    <a:pt x="2385591" y="1877591"/>
                  </a:cubicBezTo>
                  <a:cubicBezTo>
                    <a:pt x="2368042" y="1895141"/>
                    <a:pt x="2344240" y="1905000"/>
                    <a:pt x="2319421" y="1905000"/>
                  </a:cubicBezTo>
                  <a:lnTo>
                    <a:pt x="93579" y="1905000"/>
                  </a:lnTo>
                  <a:cubicBezTo>
                    <a:pt x="68760" y="1905000"/>
                    <a:pt x="44958" y="1895141"/>
                    <a:pt x="27409" y="1877591"/>
                  </a:cubicBezTo>
                  <a:cubicBezTo>
                    <a:pt x="9859" y="1860042"/>
                    <a:pt x="0" y="1836240"/>
                    <a:pt x="0" y="1811421"/>
                  </a:cubicBezTo>
                  <a:lnTo>
                    <a:pt x="0" y="93579"/>
                  </a:lnTo>
                  <a:cubicBezTo>
                    <a:pt x="0" y="68760"/>
                    <a:pt x="9859" y="44958"/>
                    <a:pt x="27409" y="27409"/>
                  </a:cubicBezTo>
                  <a:cubicBezTo>
                    <a:pt x="44958" y="9859"/>
                    <a:pt x="68760" y="0"/>
                    <a:pt x="93579" y="0"/>
                  </a:cubicBezTo>
                  <a:close/>
                </a:path>
              </a:pathLst>
            </a:custGeom>
            <a:solidFill>
              <a:srgbClr val="E8F1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2413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4.0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GENERATE EXPLANATION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2573000" y="4905375"/>
            <a:ext cx="666750" cy="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0">
            <a:off x="13239750" y="4191000"/>
            <a:ext cx="1809750" cy="1428750"/>
            <a:chOff x="0" y="0"/>
            <a:chExt cx="2413000" cy="1905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93579" y="0"/>
                  </a:moveTo>
                  <a:lnTo>
                    <a:pt x="2319421" y="0"/>
                  </a:lnTo>
                  <a:cubicBezTo>
                    <a:pt x="2344240" y="0"/>
                    <a:pt x="2368042" y="9859"/>
                    <a:pt x="2385591" y="27409"/>
                  </a:cubicBezTo>
                  <a:cubicBezTo>
                    <a:pt x="2403141" y="44958"/>
                    <a:pt x="2413000" y="68760"/>
                    <a:pt x="2413000" y="93579"/>
                  </a:cubicBezTo>
                  <a:lnTo>
                    <a:pt x="2413000" y="1811421"/>
                  </a:lnTo>
                  <a:cubicBezTo>
                    <a:pt x="2413000" y="1836240"/>
                    <a:pt x="2403141" y="1860042"/>
                    <a:pt x="2385591" y="1877591"/>
                  </a:cubicBezTo>
                  <a:cubicBezTo>
                    <a:pt x="2368042" y="1895141"/>
                    <a:pt x="2344240" y="1905000"/>
                    <a:pt x="2319421" y="1905000"/>
                  </a:cubicBezTo>
                  <a:lnTo>
                    <a:pt x="93579" y="1905000"/>
                  </a:lnTo>
                  <a:cubicBezTo>
                    <a:pt x="68760" y="1905000"/>
                    <a:pt x="44958" y="1895141"/>
                    <a:pt x="27409" y="1877591"/>
                  </a:cubicBezTo>
                  <a:cubicBezTo>
                    <a:pt x="9859" y="1860042"/>
                    <a:pt x="0" y="1836240"/>
                    <a:pt x="0" y="1811421"/>
                  </a:cubicBezTo>
                  <a:lnTo>
                    <a:pt x="0" y="93579"/>
                  </a:lnTo>
                  <a:cubicBezTo>
                    <a:pt x="0" y="68760"/>
                    <a:pt x="9859" y="44958"/>
                    <a:pt x="27409" y="27409"/>
                  </a:cubicBezTo>
                  <a:cubicBezTo>
                    <a:pt x="44958" y="9859"/>
                    <a:pt x="68760" y="0"/>
                    <a:pt x="93579" y="0"/>
                  </a:cubicBezTo>
                  <a:close/>
                </a:path>
              </a:pathLst>
            </a:custGeom>
            <a:solidFill>
              <a:srgbClr val="E8F1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2413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5.0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DISPLAY DASHBOARD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81000" y="4286250"/>
            <a:ext cx="1714500" cy="1143000"/>
            <a:chOff x="0" y="0"/>
            <a:chExt cx="2286000" cy="152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8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286000">
                  <a:moveTo>
                    <a:pt x="98778" y="0"/>
                  </a:moveTo>
                  <a:lnTo>
                    <a:pt x="2187222" y="0"/>
                  </a:lnTo>
                  <a:cubicBezTo>
                    <a:pt x="2241776" y="0"/>
                    <a:pt x="2286000" y="44224"/>
                    <a:pt x="2286000" y="98778"/>
                  </a:cubicBezTo>
                  <a:lnTo>
                    <a:pt x="2286000" y="1425222"/>
                  </a:lnTo>
                  <a:cubicBezTo>
                    <a:pt x="2286000" y="1479776"/>
                    <a:pt x="2241776" y="1524000"/>
                    <a:pt x="2187222" y="1524000"/>
                  </a:cubicBezTo>
                  <a:lnTo>
                    <a:pt x="98778" y="1524000"/>
                  </a:lnTo>
                  <a:cubicBezTo>
                    <a:pt x="44224" y="1524000"/>
                    <a:pt x="0" y="1479776"/>
                    <a:pt x="0" y="1425222"/>
                  </a:cubicBezTo>
                  <a:lnTo>
                    <a:pt x="0" y="98778"/>
                  </a:lnTo>
                  <a:cubicBezTo>
                    <a:pt x="0" y="44224"/>
                    <a:pt x="44224" y="0"/>
                    <a:pt x="98778" y="0"/>
                  </a:cubicBezTo>
                  <a:close/>
                </a:path>
              </a:pathLst>
            </a:custGeom>
            <a:solidFill>
              <a:srgbClr val="0B1324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22860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2"/>
                </a:lnSpc>
              </a:pPr>
              <a:r>
                <a:rPr lang="en-US" sz="195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USER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2095500" y="4857750"/>
            <a:ext cx="1238250" cy="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3" id="33"/>
          <p:cNvGrpSpPr/>
          <p:nvPr/>
        </p:nvGrpSpPr>
        <p:grpSpPr>
          <a:xfrm rot="0">
            <a:off x="10572750" y="6667500"/>
            <a:ext cx="3333750" cy="1000125"/>
            <a:chOff x="0" y="0"/>
            <a:chExt cx="4445000" cy="1333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445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4445000">
                  <a:moveTo>
                    <a:pt x="50800" y="0"/>
                  </a:moveTo>
                  <a:lnTo>
                    <a:pt x="4394200" y="0"/>
                  </a:lnTo>
                  <a:cubicBezTo>
                    <a:pt x="4422256" y="0"/>
                    <a:pt x="4445000" y="22744"/>
                    <a:pt x="4445000" y="50800"/>
                  </a:cubicBezTo>
                  <a:lnTo>
                    <a:pt x="4445000" y="1282700"/>
                  </a:lnTo>
                  <a:cubicBezTo>
                    <a:pt x="4445000" y="1310756"/>
                    <a:pt x="4422256" y="1333500"/>
                    <a:pt x="4394200" y="1333500"/>
                  </a:cubicBezTo>
                  <a:lnTo>
                    <a:pt x="50800" y="1333500"/>
                  </a:lnTo>
                  <a:cubicBezTo>
                    <a:pt x="22744" y="1333500"/>
                    <a:pt x="0" y="1310756"/>
                    <a:pt x="0" y="12827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D7F6F1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445000" cy="133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2"/>
                </a:lnSpc>
              </a:pPr>
              <a:r>
                <a:rPr lang="en-US" sz="195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ALERT DATABASE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>
            <a:off x="11668125" y="5619750"/>
            <a:ext cx="571500" cy="1047750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7" id="37"/>
          <p:cNvSpPr txBox="true"/>
          <p:nvPr/>
        </p:nvSpPr>
        <p:spPr>
          <a:xfrm rot="0">
            <a:off x="6667500" y="2505075"/>
            <a:ext cx="4953000" cy="25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875" b="true">
                <a:solidFill>
                  <a:srgbClr val="1322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ReVive System (Level 1)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857500" y="5905500"/>
            <a:ext cx="12573000" cy="21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"/>
              </a:lnSpc>
            </a:pPr>
            <a:r>
              <a:rPr lang="en-US" sz="1425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raw transaction file        cleaned + windowed data        anomaly score        alerts        visual report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810000" y="8905875"/>
            <a:ext cx="106680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User input is transformed into an actionable, explained dashboard output.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190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247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620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322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Sequence diagram: the path of one prediction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6300" y="1619250"/>
            <a:ext cx="16535400" cy="19050"/>
            <a:chOff x="0" y="0"/>
            <a:chExt cx="220472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23875" y="2143125"/>
            <a:ext cx="1619250" cy="619125"/>
            <a:chOff x="0" y="0"/>
            <a:chExt cx="2159000" cy="825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9000" cy="825500"/>
            </a:xfrm>
            <a:custGeom>
              <a:avLst/>
              <a:gdLst/>
              <a:ahLst/>
              <a:cxnLst/>
              <a:rect r="r" b="b" t="t" l="l"/>
              <a:pathLst>
                <a:path h="825500" w="2159000">
                  <a:moveTo>
                    <a:pt x="104588" y="0"/>
                  </a:moveTo>
                  <a:lnTo>
                    <a:pt x="2054412" y="0"/>
                  </a:lnTo>
                  <a:cubicBezTo>
                    <a:pt x="2112174" y="0"/>
                    <a:pt x="2159000" y="46826"/>
                    <a:pt x="2159000" y="104588"/>
                  </a:cubicBezTo>
                  <a:lnTo>
                    <a:pt x="2159000" y="720912"/>
                  </a:lnTo>
                  <a:cubicBezTo>
                    <a:pt x="2159000" y="778674"/>
                    <a:pt x="2112174" y="825500"/>
                    <a:pt x="2054412" y="825500"/>
                  </a:cubicBezTo>
                  <a:lnTo>
                    <a:pt x="104588" y="825500"/>
                  </a:lnTo>
                  <a:cubicBezTo>
                    <a:pt x="46826" y="825500"/>
                    <a:pt x="0" y="778674"/>
                    <a:pt x="0" y="720912"/>
                  </a:cubicBezTo>
                  <a:lnTo>
                    <a:pt x="0" y="104588"/>
                  </a:lnTo>
                  <a:cubicBezTo>
                    <a:pt x="0" y="46826"/>
                    <a:pt x="46826" y="0"/>
                    <a:pt x="10458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59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6"/>
                </a:lnSpc>
              </a:pPr>
              <a:r>
                <a:rPr lang="en-US" sz="12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USER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1333500" y="2762250"/>
            <a:ext cx="0" cy="5810250"/>
          </a:xfrm>
          <a:prstGeom prst="line">
            <a:avLst/>
          </a:prstGeom>
          <a:ln cap="flat" w="9525">
            <a:solidFill>
              <a:srgbClr val="CBD5E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2495550" y="2143125"/>
            <a:ext cx="1619250" cy="619125"/>
            <a:chOff x="0" y="0"/>
            <a:chExt cx="2159000" cy="825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59000" cy="825500"/>
            </a:xfrm>
            <a:custGeom>
              <a:avLst/>
              <a:gdLst/>
              <a:ahLst/>
              <a:cxnLst/>
              <a:rect r="r" b="b" t="t" l="l"/>
              <a:pathLst>
                <a:path h="825500" w="2159000">
                  <a:moveTo>
                    <a:pt x="104588" y="0"/>
                  </a:moveTo>
                  <a:lnTo>
                    <a:pt x="2054412" y="0"/>
                  </a:lnTo>
                  <a:cubicBezTo>
                    <a:pt x="2112174" y="0"/>
                    <a:pt x="2159000" y="46826"/>
                    <a:pt x="2159000" y="104588"/>
                  </a:cubicBezTo>
                  <a:lnTo>
                    <a:pt x="2159000" y="720912"/>
                  </a:lnTo>
                  <a:cubicBezTo>
                    <a:pt x="2159000" y="778674"/>
                    <a:pt x="2112174" y="825500"/>
                    <a:pt x="2054412" y="825500"/>
                  </a:cubicBezTo>
                  <a:lnTo>
                    <a:pt x="104588" y="825500"/>
                  </a:lnTo>
                  <a:cubicBezTo>
                    <a:pt x="46826" y="825500"/>
                    <a:pt x="0" y="778674"/>
                    <a:pt x="0" y="720912"/>
                  </a:cubicBezTo>
                  <a:lnTo>
                    <a:pt x="0" y="104588"/>
                  </a:lnTo>
                  <a:cubicBezTo>
                    <a:pt x="0" y="46826"/>
                    <a:pt x="46826" y="0"/>
                    <a:pt x="10458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159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6"/>
                </a:lnSpc>
              </a:pPr>
              <a:r>
                <a:rPr lang="en-US" sz="12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DASHBOARD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3305175" y="2762250"/>
            <a:ext cx="0" cy="5810250"/>
          </a:xfrm>
          <a:prstGeom prst="line">
            <a:avLst/>
          </a:prstGeom>
          <a:ln cap="flat" w="9525">
            <a:solidFill>
              <a:srgbClr val="CBD5E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4467225" y="2143125"/>
            <a:ext cx="1619250" cy="619125"/>
            <a:chOff x="0" y="0"/>
            <a:chExt cx="2159000" cy="825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59000" cy="825500"/>
            </a:xfrm>
            <a:custGeom>
              <a:avLst/>
              <a:gdLst/>
              <a:ahLst/>
              <a:cxnLst/>
              <a:rect r="r" b="b" t="t" l="l"/>
              <a:pathLst>
                <a:path h="825500" w="2159000">
                  <a:moveTo>
                    <a:pt x="104588" y="0"/>
                  </a:moveTo>
                  <a:lnTo>
                    <a:pt x="2054412" y="0"/>
                  </a:lnTo>
                  <a:cubicBezTo>
                    <a:pt x="2112174" y="0"/>
                    <a:pt x="2159000" y="46826"/>
                    <a:pt x="2159000" y="104588"/>
                  </a:cubicBezTo>
                  <a:lnTo>
                    <a:pt x="2159000" y="720912"/>
                  </a:lnTo>
                  <a:cubicBezTo>
                    <a:pt x="2159000" y="778674"/>
                    <a:pt x="2112174" y="825500"/>
                    <a:pt x="2054412" y="825500"/>
                  </a:cubicBezTo>
                  <a:lnTo>
                    <a:pt x="104588" y="825500"/>
                  </a:lnTo>
                  <a:cubicBezTo>
                    <a:pt x="46826" y="825500"/>
                    <a:pt x="0" y="778674"/>
                    <a:pt x="0" y="720912"/>
                  </a:cubicBezTo>
                  <a:lnTo>
                    <a:pt x="0" y="104588"/>
                  </a:lnTo>
                  <a:cubicBezTo>
                    <a:pt x="0" y="46826"/>
                    <a:pt x="46826" y="0"/>
                    <a:pt x="10458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59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6"/>
                </a:lnSpc>
              </a:pPr>
              <a:r>
                <a:rPr lang="en-US" sz="12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API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5276850" y="2762250"/>
            <a:ext cx="0" cy="5810250"/>
          </a:xfrm>
          <a:prstGeom prst="line">
            <a:avLst/>
          </a:prstGeom>
          <a:ln cap="flat" w="9525">
            <a:solidFill>
              <a:srgbClr val="CBD5E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6438900" y="2143125"/>
            <a:ext cx="1619250" cy="619125"/>
            <a:chOff x="0" y="0"/>
            <a:chExt cx="2159000" cy="825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59000" cy="825500"/>
            </a:xfrm>
            <a:custGeom>
              <a:avLst/>
              <a:gdLst/>
              <a:ahLst/>
              <a:cxnLst/>
              <a:rect r="r" b="b" t="t" l="l"/>
              <a:pathLst>
                <a:path h="825500" w="2159000">
                  <a:moveTo>
                    <a:pt x="104588" y="0"/>
                  </a:moveTo>
                  <a:lnTo>
                    <a:pt x="2054412" y="0"/>
                  </a:lnTo>
                  <a:cubicBezTo>
                    <a:pt x="2112174" y="0"/>
                    <a:pt x="2159000" y="46826"/>
                    <a:pt x="2159000" y="104588"/>
                  </a:cubicBezTo>
                  <a:lnTo>
                    <a:pt x="2159000" y="720912"/>
                  </a:lnTo>
                  <a:cubicBezTo>
                    <a:pt x="2159000" y="778674"/>
                    <a:pt x="2112174" y="825500"/>
                    <a:pt x="2054412" y="825500"/>
                  </a:cubicBezTo>
                  <a:lnTo>
                    <a:pt x="104588" y="825500"/>
                  </a:lnTo>
                  <a:cubicBezTo>
                    <a:pt x="46826" y="825500"/>
                    <a:pt x="0" y="778674"/>
                    <a:pt x="0" y="720912"/>
                  </a:cubicBezTo>
                  <a:lnTo>
                    <a:pt x="0" y="104588"/>
                  </a:lnTo>
                  <a:cubicBezTo>
                    <a:pt x="0" y="46826"/>
                    <a:pt x="46826" y="0"/>
                    <a:pt x="10458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159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6"/>
                </a:lnSpc>
              </a:pPr>
              <a:r>
                <a:rPr lang="en-US" sz="12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PREPROCESSOR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7248525" y="2762250"/>
            <a:ext cx="0" cy="5810250"/>
          </a:xfrm>
          <a:prstGeom prst="line">
            <a:avLst/>
          </a:prstGeom>
          <a:ln cap="flat" w="9525">
            <a:solidFill>
              <a:srgbClr val="CBD5E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8410575" y="2143125"/>
            <a:ext cx="1619250" cy="619125"/>
            <a:chOff x="0" y="0"/>
            <a:chExt cx="2159000" cy="825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9000" cy="825500"/>
            </a:xfrm>
            <a:custGeom>
              <a:avLst/>
              <a:gdLst/>
              <a:ahLst/>
              <a:cxnLst/>
              <a:rect r="r" b="b" t="t" l="l"/>
              <a:pathLst>
                <a:path h="825500" w="2159000">
                  <a:moveTo>
                    <a:pt x="104588" y="0"/>
                  </a:moveTo>
                  <a:lnTo>
                    <a:pt x="2054412" y="0"/>
                  </a:lnTo>
                  <a:cubicBezTo>
                    <a:pt x="2112174" y="0"/>
                    <a:pt x="2159000" y="46826"/>
                    <a:pt x="2159000" y="104588"/>
                  </a:cubicBezTo>
                  <a:lnTo>
                    <a:pt x="2159000" y="720912"/>
                  </a:lnTo>
                  <a:cubicBezTo>
                    <a:pt x="2159000" y="778674"/>
                    <a:pt x="2112174" y="825500"/>
                    <a:pt x="2054412" y="825500"/>
                  </a:cubicBezTo>
                  <a:lnTo>
                    <a:pt x="104588" y="825500"/>
                  </a:lnTo>
                  <a:cubicBezTo>
                    <a:pt x="46826" y="825500"/>
                    <a:pt x="0" y="778674"/>
                    <a:pt x="0" y="720912"/>
                  </a:cubicBezTo>
                  <a:lnTo>
                    <a:pt x="0" y="104588"/>
                  </a:lnTo>
                  <a:cubicBezTo>
                    <a:pt x="0" y="46826"/>
                    <a:pt x="46826" y="0"/>
                    <a:pt x="104588" y="0"/>
                  </a:cubicBezTo>
                  <a:close/>
                </a:path>
              </a:pathLst>
            </a:custGeom>
            <a:solidFill>
              <a:srgbClr val="247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159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6"/>
                </a:lnSpc>
              </a:pPr>
              <a:r>
                <a:rPr lang="en-US" sz="12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REVIVE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9220200" y="2762250"/>
            <a:ext cx="0" cy="5810250"/>
          </a:xfrm>
          <a:prstGeom prst="line">
            <a:avLst/>
          </a:prstGeom>
          <a:ln cap="flat" w="9525">
            <a:solidFill>
              <a:srgbClr val="CBD5E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0382250" y="2143125"/>
            <a:ext cx="1619250" cy="619125"/>
            <a:chOff x="0" y="0"/>
            <a:chExt cx="2159000" cy="825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59000" cy="825500"/>
            </a:xfrm>
            <a:custGeom>
              <a:avLst/>
              <a:gdLst/>
              <a:ahLst/>
              <a:cxnLst/>
              <a:rect r="r" b="b" t="t" l="l"/>
              <a:pathLst>
                <a:path h="825500" w="2159000">
                  <a:moveTo>
                    <a:pt x="104588" y="0"/>
                  </a:moveTo>
                  <a:lnTo>
                    <a:pt x="2054412" y="0"/>
                  </a:lnTo>
                  <a:cubicBezTo>
                    <a:pt x="2112174" y="0"/>
                    <a:pt x="2159000" y="46826"/>
                    <a:pt x="2159000" y="104588"/>
                  </a:cubicBezTo>
                  <a:lnTo>
                    <a:pt x="2159000" y="720912"/>
                  </a:lnTo>
                  <a:cubicBezTo>
                    <a:pt x="2159000" y="778674"/>
                    <a:pt x="2112174" y="825500"/>
                    <a:pt x="2054412" y="825500"/>
                  </a:cubicBezTo>
                  <a:lnTo>
                    <a:pt x="104588" y="825500"/>
                  </a:lnTo>
                  <a:cubicBezTo>
                    <a:pt x="46826" y="825500"/>
                    <a:pt x="0" y="778674"/>
                    <a:pt x="0" y="720912"/>
                  </a:cubicBezTo>
                  <a:lnTo>
                    <a:pt x="0" y="104588"/>
                  </a:lnTo>
                  <a:cubicBezTo>
                    <a:pt x="0" y="46826"/>
                    <a:pt x="46826" y="0"/>
                    <a:pt x="10458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159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6"/>
                </a:lnSpc>
              </a:pPr>
              <a:r>
                <a:rPr lang="en-US" sz="12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SCORING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1191875" y="2762250"/>
            <a:ext cx="0" cy="5810250"/>
          </a:xfrm>
          <a:prstGeom prst="line">
            <a:avLst/>
          </a:prstGeom>
          <a:ln cap="flat" w="9525">
            <a:solidFill>
              <a:srgbClr val="CBD5E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2353925" y="2143125"/>
            <a:ext cx="1619250" cy="619125"/>
            <a:chOff x="0" y="0"/>
            <a:chExt cx="2159000" cy="825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59000" cy="825500"/>
            </a:xfrm>
            <a:custGeom>
              <a:avLst/>
              <a:gdLst/>
              <a:ahLst/>
              <a:cxnLst/>
              <a:rect r="r" b="b" t="t" l="l"/>
              <a:pathLst>
                <a:path h="825500" w="2159000">
                  <a:moveTo>
                    <a:pt x="104588" y="0"/>
                  </a:moveTo>
                  <a:lnTo>
                    <a:pt x="2054412" y="0"/>
                  </a:lnTo>
                  <a:cubicBezTo>
                    <a:pt x="2112174" y="0"/>
                    <a:pt x="2159000" y="46826"/>
                    <a:pt x="2159000" y="104588"/>
                  </a:cubicBezTo>
                  <a:lnTo>
                    <a:pt x="2159000" y="720912"/>
                  </a:lnTo>
                  <a:cubicBezTo>
                    <a:pt x="2159000" y="778674"/>
                    <a:pt x="2112174" y="825500"/>
                    <a:pt x="2054412" y="825500"/>
                  </a:cubicBezTo>
                  <a:lnTo>
                    <a:pt x="104588" y="825500"/>
                  </a:lnTo>
                  <a:cubicBezTo>
                    <a:pt x="46826" y="825500"/>
                    <a:pt x="0" y="778674"/>
                    <a:pt x="0" y="720912"/>
                  </a:cubicBezTo>
                  <a:lnTo>
                    <a:pt x="0" y="104588"/>
                  </a:lnTo>
                  <a:cubicBezTo>
                    <a:pt x="0" y="46826"/>
                    <a:pt x="46826" y="0"/>
                    <a:pt x="10458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2159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6"/>
                </a:lnSpc>
              </a:pPr>
              <a:r>
                <a:rPr lang="en-US" sz="12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EXPLAIN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13163550" y="2762250"/>
            <a:ext cx="0" cy="5810250"/>
          </a:xfrm>
          <a:prstGeom prst="line">
            <a:avLst/>
          </a:prstGeom>
          <a:ln cap="flat" w="9525">
            <a:solidFill>
              <a:srgbClr val="CBD5E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4325600" y="2143125"/>
            <a:ext cx="1619250" cy="619125"/>
            <a:chOff x="0" y="0"/>
            <a:chExt cx="2159000" cy="8255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59000" cy="825500"/>
            </a:xfrm>
            <a:custGeom>
              <a:avLst/>
              <a:gdLst/>
              <a:ahLst/>
              <a:cxnLst/>
              <a:rect r="r" b="b" t="t" l="l"/>
              <a:pathLst>
                <a:path h="825500" w="2159000">
                  <a:moveTo>
                    <a:pt x="104588" y="0"/>
                  </a:moveTo>
                  <a:lnTo>
                    <a:pt x="2054412" y="0"/>
                  </a:lnTo>
                  <a:cubicBezTo>
                    <a:pt x="2112174" y="0"/>
                    <a:pt x="2159000" y="46826"/>
                    <a:pt x="2159000" y="104588"/>
                  </a:cubicBezTo>
                  <a:lnTo>
                    <a:pt x="2159000" y="720912"/>
                  </a:lnTo>
                  <a:cubicBezTo>
                    <a:pt x="2159000" y="778674"/>
                    <a:pt x="2112174" y="825500"/>
                    <a:pt x="2054412" y="825500"/>
                  </a:cubicBezTo>
                  <a:lnTo>
                    <a:pt x="104588" y="825500"/>
                  </a:lnTo>
                  <a:cubicBezTo>
                    <a:pt x="46826" y="825500"/>
                    <a:pt x="0" y="778674"/>
                    <a:pt x="0" y="720912"/>
                  </a:cubicBezTo>
                  <a:lnTo>
                    <a:pt x="0" y="104588"/>
                  </a:lnTo>
                  <a:cubicBezTo>
                    <a:pt x="0" y="46826"/>
                    <a:pt x="46826" y="0"/>
                    <a:pt x="10458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159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6"/>
                </a:lnSpc>
              </a:pPr>
              <a:r>
                <a:rPr lang="en-US" sz="12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TRIAGE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>
            <a:off x="15135225" y="2762250"/>
            <a:ext cx="0" cy="5810250"/>
          </a:xfrm>
          <a:prstGeom prst="line">
            <a:avLst/>
          </a:prstGeom>
          <a:ln cap="flat" w="9525">
            <a:solidFill>
              <a:srgbClr val="CBD5E1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6297275" y="2143125"/>
            <a:ext cx="1619250" cy="619125"/>
            <a:chOff x="0" y="0"/>
            <a:chExt cx="2159000" cy="8255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59000" cy="825500"/>
            </a:xfrm>
            <a:custGeom>
              <a:avLst/>
              <a:gdLst/>
              <a:ahLst/>
              <a:cxnLst/>
              <a:rect r="r" b="b" t="t" l="l"/>
              <a:pathLst>
                <a:path h="825500" w="2159000">
                  <a:moveTo>
                    <a:pt x="104588" y="0"/>
                  </a:moveTo>
                  <a:lnTo>
                    <a:pt x="2054412" y="0"/>
                  </a:lnTo>
                  <a:cubicBezTo>
                    <a:pt x="2112174" y="0"/>
                    <a:pt x="2159000" y="46826"/>
                    <a:pt x="2159000" y="104588"/>
                  </a:cubicBezTo>
                  <a:lnTo>
                    <a:pt x="2159000" y="720912"/>
                  </a:lnTo>
                  <a:cubicBezTo>
                    <a:pt x="2159000" y="778674"/>
                    <a:pt x="2112174" y="825500"/>
                    <a:pt x="2054412" y="825500"/>
                  </a:cubicBezTo>
                  <a:lnTo>
                    <a:pt x="104588" y="825500"/>
                  </a:lnTo>
                  <a:cubicBezTo>
                    <a:pt x="46826" y="825500"/>
                    <a:pt x="0" y="778674"/>
                    <a:pt x="0" y="720912"/>
                  </a:cubicBezTo>
                  <a:lnTo>
                    <a:pt x="0" y="104588"/>
                  </a:lnTo>
                  <a:cubicBezTo>
                    <a:pt x="0" y="46826"/>
                    <a:pt x="46826" y="0"/>
                    <a:pt x="10458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2159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6"/>
                </a:lnSpc>
              </a:pPr>
              <a:r>
                <a:rPr lang="en-US" sz="12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ALERT DB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>
            <a:off x="17106900" y="2762250"/>
            <a:ext cx="0" cy="5810250"/>
          </a:xfrm>
          <a:prstGeom prst="line">
            <a:avLst/>
          </a:prstGeom>
          <a:ln cap="flat" w="9525">
            <a:solidFill>
              <a:srgbClr val="CBD5E1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1333500" y="3238500"/>
            <a:ext cx="1971675" cy="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4" id="44"/>
          <p:cNvSpPr/>
          <p:nvPr/>
        </p:nvSpPr>
        <p:spPr>
          <a:xfrm>
            <a:off x="3305175" y="3762375"/>
            <a:ext cx="1971675" cy="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5" id="45"/>
          <p:cNvSpPr/>
          <p:nvPr/>
        </p:nvSpPr>
        <p:spPr>
          <a:xfrm>
            <a:off x="5276850" y="4286250"/>
            <a:ext cx="1971675" cy="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6" id="46"/>
          <p:cNvSpPr/>
          <p:nvPr/>
        </p:nvSpPr>
        <p:spPr>
          <a:xfrm flipH="true">
            <a:off x="5276850" y="4810125"/>
            <a:ext cx="1971675" cy="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7" id="47"/>
          <p:cNvSpPr/>
          <p:nvPr/>
        </p:nvSpPr>
        <p:spPr>
          <a:xfrm>
            <a:off x="5276850" y="5334000"/>
            <a:ext cx="3943350" cy="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8" id="48"/>
          <p:cNvSpPr/>
          <p:nvPr/>
        </p:nvSpPr>
        <p:spPr>
          <a:xfrm>
            <a:off x="9220200" y="5857875"/>
            <a:ext cx="1971675" cy="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9" id="49"/>
          <p:cNvSpPr/>
          <p:nvPr/>
        </p:nvSpPr>
        <p:spPr>
          <a:xfrm>
            <a:off x="11191875" y="6477000"/>
            <a:ext cx="1971675" cy="0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0" id="50"/>
          <p:cNvSpPr/>
          <p:nvPr/>
        </p:nvSpPr>
        <p:spPr>
          <a:xfrm>
            <a:off x="11191875" y="7000875"/>
            <a:ext cx="3943350" cy="0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1" id="51"/>
          <p:cNvSpPr/>
          <p:nvPr/>
        </p:nvSpPr>
        <p:spPr>
          <a:xfrm>
            <a:off x="15135225" y="7524750"/>
            <a:ext cx="1971675" cy="0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2" id="52"/>
          <p:cNvSpPr/>
          <p:nvPr/>
        </p:nvSpPr>
        <p:spPr>
          <a:xfrm flipH="true">
            <a:off x="3305175" y="8096250"/>
            <a:ext cx="1971675" cy="0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53" id="53"/>
          <p:cNvSpPr txBox="true"/>
          <p:nvPr/>
        </p:nvSpPr>
        <p:spPr>
          <a:xfrm rot="0">
            <a:off x="1409700" y="2962275"/>
            <a:ext cx="181927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upload file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381375" y="3486150"/>
            <a:ext cx="181927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POST /predict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53050" y="4010025"/>
            <a:ext cx="181927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preprocess(file)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353050" y="4533900"/>
            <a:ext cx="181927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windowed data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353050" y="5057775"/>
            <a:ext cx="37909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forward(windows)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296400" y="5581650"/>
            <a:ext cx="1819275" cy="16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repaired → structural_score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268075" y="6200775"/>
            <a:ext cx="181927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[above] attribution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268075" y="6724650"/>
            <a:ext cx="37909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classify score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5211425" y="7248525"/>
            <a:ext cx="181927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save alert + explanation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381375" y="7820025"/>
            <a:ext cx="181927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results / flagged anomalies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6300" y="1619250"/>
            <a:ext cx="16535400" cy="19050"/>
            <a:chOff x="0" y="0"/>
            <a:chExt cx="22047200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740036" y="2010034"/>
            <a:ext cx="7094928" cy="6076433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876300" y="2358719"/>
            <a:ext cx="10262829" cy="5764054"/>
          </a:xfrm>
          <a:custGeom>
            <a:avLst/>
            <a:gdLst/>
            <a:ahLst/>
            <a:cxnLst/>
            <a:rect r="r" b="b" t="t" l="l"/>
            <a:pathLst>
              <a:path h="5764054" w="10262829">
                <a:moveTo>
                  <a:pt x="0" y="0"/>
                </a:moveTo>
                <a:lnTo>
                  <a:pt x="10262829" y="0"/>
                </a:lnTo>
                <a:lnTo>
                  <a:pt x="10262829" y="5764055"/>
                </a:lnTo>
                <a:lnTo>
                  <a:pt x="0" y="5764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76300" y="523875"/>
            <a:ext cx="190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247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6300" y="9620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322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Prototype results: strong precision where it matters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95500" y="8648700"/>
            <a:ext cx="140970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875">
                <a:solidFill>
                  <a:srgbClr val="132238"/>
                </a:solidFill>
                <a:latin typeface="Open Sans"/>
                <a:ea typeface="Open Sans"/>
                <a:cs typeface="Open Sans"/>
                <a:sym typeface="Open Sans"/>
              </a:rPr>
              <a:t>ReVive achieves superior anomaly detection performance on real financial data, enabling real-time scoring and review.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6300" y="1619250"/>
            <a:ext cx="16535400" cy="19050"/>
            <a:chOff x="0" y="0"/>
            <a:chExt cx="22047200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9405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02663" y="1752600"/>
            <a:ext cx="10484172" cy="5908522"/>
          </a:xfrm>
          <a:custGeom>
            <a:avLst/>
            <a:gdLst/>
            <a:ahLst/>
            <a:cxnLst/>
            <a:rect r="r" b="b" t="t" l="l"/>
            <a:pathLst>
              <a:path h="5908522" w="10484172">
                <a:moveTo>
                  <a:pt x="0" y="0"/>
                </a:moveTo>
                <a:lnTo>
                  <a:pt x="10484171" y="0"/>
                </a:lnTo>
                <a:lnTo>
                  <a:pt x="10484171" y="5908522"/>
                </a:lnTo>
                <a:lnTo>
                  <a:pt x="0" y="59085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66750" y="2952750"/>
            <a:ext cx="3714750" cy="1238250"/>
            <a:chOff x="0" y="0"/>
            <a:chExt cx="4953000" cy="165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53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953000">
                  <a:moveTo>
                    <a:pt x="45590" y="0"/>
                  </a:moveTo>
                  <a:lnTo>
                    <a:pt x="4907410" y="0"/>
                  </a:lnTo>
                  <a:cubicBezTo>
                    <a:pt x="4932589" y="0"/>
                    <a:pt x="4953000" y="20411"/>
                    <a:pt x="4953000" y="45590"/>
                  </a:cubicBezTo>
                  <a:lnTo>
                    <a:pt x="4953000" y="1605410"/>
                  </a:lnTo>
                  <a:cubicBezTo>
                    <a:pt x="4953000" y="1630589"/>
                    <a:pt x="4932589" y="1651000"/>
                    <a:pt x="4907410" y="1651000"/>
                  </a:cubicBezTo>
                  <a:lnTo>
                    <a:pt x="45590" y="1651000"/>
                  </a:lnTo>
                  <a:cubicBezTo>
                    <a:pt x="20411" y="1651000"/>
                    <a:pt x="0" y="1630589"/>
                    <a:pt x="0" y="1605410"/>
                  </a:cubicBezTo>
                  <a:lnTo>
                    <a:pt x="0" y="45590"/>
                  </a:lnTo>
                  <a:cubicBezTo>
                    <a:pt x="0" y="20411"/>
                    <a:pt x="20411" y="0"/>
                    <a:pt x="45590" y="0"/>
                  </a:cubicBezTo>
                  <a:close/>
                </a:path>
              </a:pathLst>
            </a:custGeom>
            <a:solidFill>
              <a:srgbClr val="247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953000" cy="165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PER-FEATURE ATTRIBUTION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Which inputs drove the flag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4381500" y="3571875"/>
            <a:ext cx="952500" cy="904875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13335000" y="3286125"/>
            <a:ext cx="4000500" cy="1238250"/>
            <a:chOff x="0" y="0"/>
            <a:chExt cx="5334000" cy="165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4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334000">
                  <a:moveTo>
                    <a:pt x="42333" y="0"/>
                  </a:moveTo>
                  <a:lnTo>
                    <a:pt x="5291667" y="0"/>
                  </a:lnTo>
                  <a:cubicBezTo>
                    <a:pt x="5302894" y="0"/>
                    <a:pt x="5313662" y="4460"/>
                    <a:pt x="5321601" y="12399"/>
                  </a:cubicBezTo>
                  <a:cubicBezTo>
                    <a:pt x="5329540" y="20338"/>
                    <a:pt x="5334000" y="31106"/>
                    <a:pt x="5334000" y="42333"/>
                  </a:cubicBezTo>
                  <a:lnTo>
                    <a:pt x="5334000" y="1608667"/>
                  </a:lnTo>
                  <a:cubicBezTo>
                    <a:pt x="5334000" y="1619894"/>
                    <a:pt x="5329540" y="1630662"/>
                    <a:pt x="5321601" y="1638601"/>
                  </a:cubicBezTo>
                  <a:cubicBezTo>
                    <a:pt x="5313662" y="1646540"/>
                    <a:pt x="5302894" y="1651000"/>
                    <a:pt x="5291667" y="1651000"/>
                  </a:cubicBezTo>
                  <a:lnTo>
                    <a:pt x="42333" y="1651000"/>
                  </a:lnTo>
                  <a:cubicBezTo>
                    <a:pt x="31106" y="1651000"/>
                    <a:pt x="20338" y="1646540"/>
                    <a:pt x="12399" y="1638601"/>
                  </a:cubicBezTo>
                  <a:cubicBezTo>
                    <a:pt x="4460" y="1630662"/>
                    <a:pt x="0" y="1619894"/>
                    <a:pt x="0" y="1608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47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5334000" cy="165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PEAK-TIMESTEP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Where deviation peaked in-window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flipH="true">
            <a:off x="12001500" y="3905250"/>
            <a:ext cx="1333500" cy="1190625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13049250" y="6667500"/>
            <a:ext cx="4191000" cy="1238250"/>
            <a:chOff x="0" y="0"/>
            <a:chExt cx="5588000" cy="165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8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588000">
                  <a:moveTo>
                    <a:pt x="40409" y="0"/>
                  </a:moveTo>
                  <a:lnTo>
                    <a:pt x="5547591" y="0"/>
                  </a:lnTo>
                  <a:cubicBezTo>
                    <a:pt x="5558308" y="0"/>
                    <a:pt x="5568586" y="4257"/>
                    <a:pt x="5576164" y="11836"/>
                  </a:cubicBezTo>
                  <a:cubicBezTo>
                    <a:pt x="5583743" y="19414"/>
                    <a:pt x="5588000" y="29692"/>
                    <a:pt x="5588000" y="40409"/>
                  </a:cubicBezTo>
                  <a:lnTo>
                    <a:pt x="5588000" y="1610591"/>
                  </a:lnTo>
                  <a:cubicBezTo>
                    <a:pt x="5588000" y="1621308"/>
                    <a:pt x="5583743" y="1631586"/>
                    <a:pt x="5576164" y="1639164"/>
                  </a:cubicBezTo>
                  <a:cubicBezTo>
                    <a:pt x="5568586" y="1646743"/>
                    <a:pt x="5558308" y="1651000"/>
                    <a:pt x="5547591" y="1651000"/>
                  </a:cubicBezTo>
                  <a:lnTo>
                    <a:pt x="40409" y="1651000"/>
                  </a:lnTo>
                  <a:cubicBezTo>
                    <a:pt x="29692" y="1651000"/>
                    <a:pt x="19414" y="1646743"/>
                    <a:pt x="11836" y="1639164"/>
                  </a:cubicBezTo>
                  <a:cubicBezTo>
                    <a:pt x="4257" y="1631586"/>
                    <a:pt x="0" y="1621308"/>
                    <a:pt x="0" y="1610591"/>
                  </a:cubicBezTo>
                  <a:lnTo>
                    <a:pt x="0" y="40409"/>
                  </a:lnTo>
                  <a:cubicBezTo>
                    <a:pt x="0" y="29692"/>
                    <a:pt x="4257" y="19414"/>
                    <a:pt x="11836" y="11836"/>
                  </a:cubicBezTo>
                  <a:cubicBezTo>
                    <a:pt x="19414" y="4257"/>
                    <a:pt x="29692" y="0"/>
                    <a:pt x="40409" y="0"/>
                  </a:cubicBezTo>
                  <a:close/>
                </a:path>
              </a:pathLst>
            </a:custGeom>
            <a:solidFill>
              <a:srgbClr val="19C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588000" cy="165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ACTIONABLE CONTEXT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Feature + time insight, not an aggregate score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flipH="true" flipV="true">
            <a:off x="12001500" y="6858000"/>
            <a:ext cx="1047750" cy="428625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8" id="18"/>
          <p:cNvSpPr txBox="true"/>
          <p:nvPr/>
        </p:nvSpPr>
        <p:spPr>
          <a:xfrm rot="0">
            <a:off x="876300" y="523875"/>
            <a:ext cx="190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19C7B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6300" y="9620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this anomaly? Move beyond one score.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190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247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620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322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Known limitations—and what they mean in practice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6300" y="1619250"/>
            <a:ext cx="16535400" cy="19050"/>
            <a:chOff x="0" y="0"/>
            <a:chExt cx="220472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0477500" y="2876550"/>
            <a:ext cx="1333500" cy="0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>
            <a:off x="952500" y="3714750"/>
            <a:ext cx="16002000" cy="0"/>
          </a:xfrm>
          <a:prstGeom prst="line">
            <a:avLst/>
          </a:prstGeom>
          <a:ln cap="flat" w="9525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477500" y="4638675"/>
            <a:ext cx="1333500" cy="0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>
            <a:off x="952500" y="5476875"/>
            <a:ext cx="16002000" cy="0"/>
          </a:xfrm>
          <a:prstGeom prst="line">
            <a:avLst/>
          </a:prstGeom>
          <a:ln cap="flat" w="9525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0477500" y="6400800"/>
            <a:ext cx="1333500" cy="0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>
            <a:off x="952500" y="7239000"/>
            <a:ext cx="16002000" cy="0"/>
          </a:xfrm>
          <a:prstGeom prst="line">
            <a:avLst/>
          </a:prstGeom>
          <a:ln cap="flat" w="9525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0477500" y="8162925"/>
            <a:ext cx="1333500" cy="0"/>
          </a:xfrm>
          <a:prstGeom prst="line">
            <a:avLst/>
          </a:prstGeom>
          <a:ln cap="rnd" w="28575">
            <a:solidFill>
              <a:srgbClr val="19C7B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4" id="14"/>
          <p:cNvSpPr/>
          <p:nvPr/>
        </p:nvSpPr>
        <p:spPr>
          <a:xfrm>
            <a:off x="952500" y="9001125"/>
            <a:ext cx="16002000" cy="0"/>
          </a:xfrm>
          <a:prstGeom prst="line">
            <a:avLst/>
          </a:prstGeom>
          <a:ln cap="flat" w="9525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952500" y="2476500"/>
            <a:ext cx="16002000" cy="530543"/>
            <a:chOff x="0" y="0"/>
            <a:chExt cx="21336000" cy="70739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28575"/>
              <a:ext cx="49530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2478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FEATURE BLIND SPOTS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080000" y="-9525"/>
              <a:ext cx="7239000" cy="716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Only observed deviations; low-and-slow fraud may look normal.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4986000" y="-9525"/>
              <a:ext cx="635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Some subtle fraud may evade detection.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2500" y="4238625"/>
            <a:ext cx="16002000" cy="567690"/>
            <a:chOff x="0" y="0"/>
            <a:chExt cx="21336000" cy="75692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28575"/>
              <a:ext cx="49530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2478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FALSE POSITIVES BY DESIGN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080000" y="-9525"/>
              <a:ext cx="7239000" cy="348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Unusual-but-legitimate behavior can score high.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4986000" y="-9525"/>
              <a:ext cx="6350000" cy="766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Human triage is required; no auto-blocking.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2500" y="6000750"/>
            <a:ext cx="16002000" cy="567690"/>
            <a:chOff x="0" y="0"/>
            <a:chExt cx="21336000" cy="756920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28575"/>
              <a:ext cx="49530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2478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TRAINING CONTAMINATION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5080000" y="-9525"/>
              <a:ext cx="7239000" cy="716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History is mostly clean, not perfectly clean (~0.17% fraud).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4986000" y="-9525"/>
              <a:ext cx="6350000" cy="766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Model purity is slightly reduced but manageable.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2500" y="7762875"/>
            <a:ext cx="16002000" cy="567690"/>
            <a:chOff x="0" y="0"/>
            <a:chExt cx="21336000" cy="756920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28575"/>
              <a:ext cx="49530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2478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ANONYMIZED FEATURES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080000" y="-9525"/>
              <a:ext cx="7239000" cy="716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132238"/>
                  </a:solidFill>
                  <a:latin typeface="Open Sans"/>
                  <a:ea typeface="Open Sans"/>
                  <a:cs typeface="Open Sans"/>
                  <a:sym typeface="Open Sans"/>
                </a:rPr>
                <a:t>PCA-transformed columns limit semantic interpretation.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4986000" y="-9525"/>
              <a:ext cx="6350000" cy="766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Explanations are less intuitive to humans.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23875"/>
            <a:ext cx="190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247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962025"/>
            <a:ext cx="14287500" cy="5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true">
                <a:solidFill>
                  <a:srgbClr val="1322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Prototype → deployment-ready final system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6300" y="1619250"/>
            <a:ext cx="16535400" cy="19050"/>
            <a:chOff x="0" y="0"/>
            <a:chExt cx="220472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47200" cy="25400"/>
            </a:xfrm>
            <a:custGeom>
              <a:avLst/>
              <a:gdLst/>
              <a:ahLst/>
              <a:cxnLst/>
              <a:rect r="r" b="b" t="t" l="l"/>
              <a:pathLst>
                <a:path h="25400" w="22047200">
                  <a:moveTo>
                    <a:pt x="0" y="0"/>
                  </a:moveTo>
                  <a:lnTo>
                    <a:pt x="22047200" y="0"/>
                  </a:lnTo>
                  <a:lnTo>
                    <a:pt x="22047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5E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472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428750" y="5429250"/>
            <a:ext cx="15430500" cy="0"/>
          </a:xfrm>
          <a:prstGeom prst="line">
            <a:avLst/>
          </a:prstGeom>
          <a:ln cap="rnd" w="28575">
            <a:solidFill>
              <a:srgbClr val="2478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8" id="8"/>
          <p:cNvGrpSpPr/>
          <p:nvPr/>
        </p:nvGrpSpPr>
        <p:grpSpPr>
          <a:xfrm rot="0">
            <a:off x="285750" y="2857500"/>
            <a:ext cx="2857500" cy="1571625"/>
            <a:chOff x="0" y="0"/>
            <a:chExt cx="3810000" cy="2095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2036233"/>
                  </a:lnTo>
                  <a:cubicBezTo>
                    <a:pt x="3810000" y="2068965"/>
                    <a:pt x="3783466" y="2095500"/>
                    <a:pt x="3750733" y="2095500"/>
                  </a:cubicBezTo>
                  <a:lnTo>
                    <a:pt x="59267" y="2095500"/>
                  </a:lnTo>
                  <a:cubicBezTo>
                    <a:pt x="26535" y="2095500"/>
                    <a:pt x="0" y="2068965"/>
                    <a:pt x="0" y="20362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810000" cy="209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  CORRECTED BASELINE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IF + COPOD · normalized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714500" y="4429125"/>
            <a:ext cx="0" cy="1000125"/>
          </a:xfrm>
          <a:prstGeom prst="line">
            <a:avLst/>
          </a:prstGeom>
          <a:ln cap="flat" w="28575">
            <a:solidFill>
              <a:srgbClr val="19C7B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3619500" y="6334125"/>
            <a:ext cx="2857500" cy="1571625"/>
            <a:chOff x="0" y="0"/>
            <a:chExt cx="3810000" cy="2095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10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2036233"/>
                  </a:lnTo>
                  <a:cubicBezTo>
                    <a:pt x="3810000" y="2068965"/>
                    <a:pt x="3783466" y="2095500"/>
                    <a:pt x="3750733" y="2095500"/>
                  </a:cubicBezTo>
                  <a:lnTo>
                    <a:pt x="59267" y="2095500"/>
                  </a:lnTo>
                  <a:cubicBezTo>
                    <a:pt x="26535" y="2095500"/>
                    <a:pt x="0" y="2068965"/>
                    <a:pt x="0" y="20362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3810000" cy="209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  EXPLAINABILITY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Full module evaluation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5048250" y="5429250"/>
            <a:ext cx="0" cy="904875"/>
          </a:xfrm>
          <a:prstGeom prst="line">
            <a:avLst/>
          </a:prstGeom>
          <a:ln cap="flat" w="28575">
            <a:solidFill>
              <a:srgbClr val="19C7B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6953250" y="2857500"/>
            <a:ext cx="2857500" cy="1571625"/>
            <a:chOff x="0" y="0"/>
            <a:chExt cx="3810000" cy="2095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2036233"/>
                  </a:lnTo>
                  <a:cubicBezTo>
                    <a:pt x="3810000" y="2068965"/>
                    <a:pt x="3783466" y="2095500"/>
                    <a:pt x="3750733" y="2095500"/>
                  </a:cubicBezTo>
                  <a:lnTo>
                    <a:pt x="59267" y="2095500"/>
                  </a:lnTo>
                  <a:cubicBezTo>
                    <a:pt x="26535" y="2095500"/>
                    <a:pt x="0" y="2068965"/>
                    <a:pt x="0" y="20362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3810000" cy="209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  INTEGRATION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Backend API + dashboard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8382000" y="4429125"/>
            <a:ext cx="0" cy="1000125"/>
          </a:xfrm>
          <a:prstGeom prst="line">
            <a:avLst/>
          </a:prstGeom>
          <a:ln cap="flat" w="28575">
            <a:solidFill>
              <a:srgbClr val="19C7B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0287000" y="6334125"/>
            <a:ext cx="2857500" cy="1571625"/>
            <a:chOff x="0" y="0"/>
            <a:chExt cx="3810000" cy="2095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10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2036233"/>
                  </a:lnTo>
                  <a:cubicBezTo>
                    <a:pt x="3810000" y="2068965"/>
                    <a:pt x="3783466" y="2095500"/>
                    <a:pt x="3750733" y="2095500"/>
                  </a:cubicBezTo>
                  <a:lnTo>
                    <a:pt x="59267" y="2095500"/>
                  </a:lnTo>
                  <a:cubicBezTo>
                    <a:pt x="26535" y="2095500"/>
                    <a:pt x="0" y="2068965"/>
                    <a:pt x="0" y="20362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3810000" cy="209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  SELF-CLEANING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3223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Retraining · stretch goal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1715750" y="5429250"/>
            <a:ext cx="0" cy="904875"/>
          </a:xfrm>
          <a:prstGeom prst="line">
            <a:avLst/>
          </a:prstGeom>
          <a:ln cap="flat" w="28575">
            <a:solidFill>
              <a:srgbClr val="19C7B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3620750" y="2857500"/>
            <a:ext cx="2857500" cy="1571625"/>
            <a:chOff x="0" y="0"/>
            <a:chExt cx="3810000" cy="2095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10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2036233"/>
                  </a:lnTo>
                  <a:cubicBezTo>
                    <a:pt x="3810000" y="2068965"/>
                    <a:pt x="3783466" y="2095500"/>
                    <a:pt x="3750733" y="2095500"/>
                  </a:cubicBezTo>
                  <a:lnTo>
                    <a:pt x="59267" y="2095500"/>
                  </a:lnTo>
                  <a:cubicBezTo>
                    <a:pt x="26535" y="2095500"/>
                    <a:pt x="0" y="2068965"/>
                    <a:pt x="0" y="20362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247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810000" cy="209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05  FULL EVALUATION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Confidence intervals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5049500" y="4429125"/>
            <a:ext cx="0" cy="1000125"/>
          </a:xfrm>
          <a:prstGeom prst="line">
            <a:avLst/>
          </a:prstGeom>
          <a:ln cap="flat" w="28575">
            <a:solidFill>
              <a:srgbClr val="19C7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3810000" y="8896350"/>
            <a:ext cx="10668000" cy="29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875">
                <a:solidFill>
                  <a:srgbClr val="66758A"/>
                </a:solidFill>
                <a:latin typeface="Open Sans"/>
                <a:ea typeface="Open Sans"/>
                <a:cs typeface="Open Sans"/>
                <a:sym typeface="Open Sans"/>
              </a:rPr>
              <a:t>Planned improvements enhance accuracy, usability, and deployment readiness.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2095500"/>
            <a:ext cx="1543050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95"/>
              </a:lnSpc>
            </a:pPr>
            <a:r>
              <a:rPr lang="en-US" sz="99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8750" y="3733800"/>
            <a:ext cx="1543050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90"/>
              </a:lnSpc>
            </a:pPr>
            <a:r>
              <a:rPr lang="en-US" sz="4350" b="true">
                <a:solidFill>
                  <a:srgbClr val="19C7B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4914900"/>
            <a:ext cx="154305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Questions &amp; Discussion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33750" y="6629400"/>
            <a:ext cx="11620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A9B8CC"/>
                </a:solidFill>
                <a:latin typeface="Open Sans"/>
                <a:ea typeface="Open Sans"/>
                <a:cs typeface="Open Sans"/>
                <a:sym typeface="Open Sans"/>
              </a:rPr>
              <a:t>Explainable anomaly detection, repaired one window at a time.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62500" y="8877300"/>
            <a:ext cx="8763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spc="179">
                <a:solidFill>
                  <a:srgbClr val="19C7B1"/>
                </a:solidFill>
                <a:latin typeface="Open Sans"/>
                <a:ea typeface="Open Sans"/>
                <a:cs typeface="Open Sans"/>
                <a:sym typeface="Open Sans"/>
              </a:rPr>
              <a:t>Software Engineering  •  UCS503P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DAHVZD2SuK4</dc:identifier>
  <dcterms:modified xsi:type="dcterms:W3CDTF">2011-08-01T06:04:30Z</dcterms:modified>
  <cp:revision>1</cp:revision>
</cp:coreProperties>
</file>